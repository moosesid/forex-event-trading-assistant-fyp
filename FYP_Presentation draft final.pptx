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8938" autoAdjust="0"/>
  </p:normalViewPr>
  <p:slideViewPr>
    <p:cSldViewPr snapToGrid="0" snapToObjects="1">
      <p:cViewPr>
        <p:scale>
          <a:sx n="75" d="100"/>
          <a:sy n="75" d="100"/>
        </p:scale>
        <p:origin x="353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Logistic Regression</c:v>
                </c:pt>
              </c:strCache>
            </c:strRef>
          </c:tx>
          <c:spPr>
            <a:solidFill>
              <a:srgbClr val="2E5C8A"/>
            </a:solidFill>
            <a:effectLst/>
          </c:spPr>
          <c:invertIfNegative val="0"/>
          <c:dLbls>
            <c:numFmt formatCode="0.00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day</c:v>
                </c:pt>
                <c:pt idx="1">
                  <c:v>3 days</c:v>
                </c:pt>
                <c:pt idx="2">
                  <c:v>5 days</c:v>
                </c:pt>
              </c:strCache>
            </c:strRef>
          </c:cat>
          <c:val>
            <c:numRef>
              <c:f>Sheet1!$B$2:$B$4</c:f>
              <c:numCache>
                <c:formatCode>General</c:formatCode>
                <c:ptCount val="3"/>
                <c:pt idx="0">
                  <c:v>0.53990000000000005</c:v>
                </c:pt>
                <c:pt idx="1">
                  <c:v>0.5393</c:v>
                </c:pt>
                <c:pt idx="2">
                  <c:v>0.51390000000000002</c:v>
                </c:pt>
              </c:numCache>
            </c:numRef>
          </c:val>
          <c:extLst>
            <c:ext xmlns:c16="http://schemas.microsoft.com/office/drawing/2014/chart" uri="{C3380CC4-5D6E-409C-BE32-E72D297353CC}">
              <c16:uniqueId val="{00000000-0F75-427A-89D4-0B64F317D5A7}"/>
            </c:ext>
          </c:extLst>
        </c:ser>
        <c:ser>
          <c:idx val="1"/>
          <c:order val="1"/>
          <c:tx>
            <c:strRef>
              <c:f>Sheet1!$C$1</c:f>
              <c:strCache>
                <c:ptCount val="1"/>
                <c:pt idx="0">
                  <c:v>Random Forest</c:v>
                </c:pt>
              </c:strCache>
            </c:strRef>
          </c:tx>
          <c:spPr>
            <a:solidFill>
              <a:srgbClr val="2E6B4F"/>
            </a:solidFill>
            <a:effectLst/>
          </c:spPr>
          <c:invertIfNegative val="0"/>
          <c:dLbls>
            <c:numFmt formatCode="0.00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day</c:v>
                </c:pt>
                <c:pt idx="1">
                  <c:v>3 days</c:v>
                </c:pt>
                <c:pt idx="2">
                  <c:v>5 days</c:v>
                </c:pt>
              </c:strCache>
            </c:strRef>
          </c:cat>
          <c:val>
            <c:numRef>
              <c:f>Sheet1!$C$2:$C$4</c:f>
              <c:numCache>
                <c:formatCode>General</c:formatCode>
                <c:ptCount val="3"/>
                <c:pt idx="0">
                  <c:v>0.53859999999999997</c:v>
                </c:pt>
                <c:pt idx="1">
                  <c:v>0.53949999999999998</c:v>
                </c:pt>
                <c:pt idx="2">
                  <c:v>0.50560000000000005</c:v>
                </c:pt>
              </c:numCache>
            </c:numRef>
          </c:val>
          <c:extLst>
            <c:ext xmlns:c16="http://schemas.microsoft.com/office/drawing/2014/chart" uri="{C3380CC4-5D6E-409C-BE32-E72D297353CC}">
              <c16:uniqueId val="{00000001-0F75-427A-89D4-0B64F317D5A7}"/>
            </c:ext>
          </c:extLst>
        </c:ser>
        <c:ser>
          <c:idx val="2"/>
          <c:order val="2"/>
          <c:tx>
            <c:strRef>
              <c:f>Sheet1!$D$1</c:f>
              <c:strCache>
                <c:ptCount val="1"/>
                <c:pt idx="0">
                  <c:v>XGBoost</c:v>
                </c:pt>
              </c:strCache>
            </c:strRef>
          </c:tx>
          <c:spPr>
            <a:solidFill>
              <a:srgbClr val="B02418"/>
            </a:solidFill>
            <a:effectLst/>
          </c:spPr>
          <c:invertIfNegative val="0"/>
          <c:dLbls>
            <c:numFmt formatCode="0.00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day</c:v>
                </c:pt>
                <c:pt idx="1">
                  <c:v>3 days</c:v>
                </c:pt>
                <c:pt idx="2">
                  <c:v>5 days</c:v>
                </c:pt>
              </c:strCache>
            </c:strRef>
          </c:cat>
          <c:val>
            <c:numRef>
              <c:f>Sheet1!$D$2:$D$4</c:f>
              <c:numCache>
                <c:formatCode>General</c:formatCode>
                <c:ptCount val="3"/>
                <c:pt idx="0">
                  <c:v>0.50749999999999995</c:v>
                </c:pt>
                <c:pt idx="1">
                  <c:v>0.48759999999999998</c:v>
                </c:pt>
                <c:pt idx="2">
                  <c:v>0.44429999999999997</c:v>
                </c:pt>
              </c:numCache>
            </c:numRef>
          </c:val>
          <c:extLst>
            <c:ext xmlns:c16="http://schemas.microsoft.com/office/drawing/2014/chart" uri="{C3380CC4-5D6E-409C-BE32-E72D297353CC}">
              <c16:uniqueId val="{00000002-0F75-427A-89D4-0B64F317D5A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5A5A"/>
                </a:solidFill>
                <a:latin typeface="Arial"/>
              </a:defRPr>
            </a:pPr>
            <a:endParaRPr lang="en-US"/>
          </a:p>
        </c:txPr>
        <c:crossAx val="2094734552"/>
        <c:crosses val="autoZero"/>
        <c:auto val="1"/>
        <c:lblAlgn val="ctr"/>
        <c:lblOffset val="100"/>
        <c:noMultiLvlLbl val="1"/>
      </c:catAx>
      <c:valAx>
        <c:axId val="2094734552"/>
        <c:scaling>
          <c:orientation val="minMax"/>
          <c:max val="0.57999999999999996"/>
          <c:min val="0.42"/>
        </c:scaling>
        <c:delete val="0"/>
        <c:axPos val="l"/>
        <c:majorGridlines>
          <c:spPr>
            <a:ln w="9525" cap="flat">
              <a:solidFill>
                <a:srgbClr val="E8E8E8"/>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A5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4290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Good morning everyone. My name is Mursyid, and this is my capstone project: an Economic Event-Driven Forex Trading Assistant using Machine Learning.</a:t>
            </a:r>
          </a:p>
          <a:p>
            <a:r>
              <a:rPr lang="en-SG" dirty="0"/>
              <a:t>The main question I investigated was not whether I could guarantee a profitable trading system. Instead, I asked how much of daily EUR/USD direction can be predicted using public macroeconomic event surprises, which feature groups contribute to that prediction, and whether the resulting signal can improve risk-adjusted performance compared with continuously holding EUR/USD.</a:t>
            </a:r>
          </a:p>
          <a:p>
            <a:r>
              <a:rPr lang="en-SG" dirty="0"/>
              <a:t>The overall result is a small but statistically detectable signal. However, it is not strong enough to support autonomous trading, so the final system is positioned as a decision-support and risk-filtering tool.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There are three reasons this is a difficult prediction problem.</a:t>
            </a:r>
          </a:p>
          <a:p>
            <a:r>
              <a:rPr lang="en-SG" dirty="0"/>
              <a:t>First, markets already price in the expected outcome before an announcement. Therefore, the useful information is not simply the reported CPI or employment number, but the surprise: the actual result minus the market forecast.</a:t>
            </a:r>
          </a:p>
          <a:p>
            <a:r>
              <a:rPr lang="en-SG" dirty="0"/>
              <a:t>Second, the same surprise can produce different reactions depending on the current market trend and regime.</a:t>
            </a:r>
          </a:p>
          <a:p>
            <a:r>
              <a:rPr lang="en-SG" dirty="0"/>
              <a:t>Third, previous research shows that foreign-exchange reactions to announcements are usually absorbed within minutes. My project uses daily prices and predicts the next day’s direction, so much of the immediate event reaction may already have disappeared.</a:t>
            </a:r>
          </a:p>
          <a:p>
            <a:r>
              <a:rPr lang="en-SG" dirty="0"/>
              <a:t>For that reason, a small and carefully measured result is more credible than an unusually high return or prediction score.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 used eighteen years of daily EUR/USD prices from </a:t>
            </a:r>
            <a:r>
              <a:rPr lang="en-SG" dirty="0" err="1"/>
              <a:t>yfinance</a:t>
            </a:r>
            <a:r>
              <a:rPr lang="en-SG" dirty="0"/>
              <a:t>, from October 2007 to December 2025.</a:t>
            </a:r>
          </a:p>
          <a:p>
            <a:r>
              <a:rPr lang="en-SG" dirty="0"/>
              <a:t>These prices were aligned with six event families from the </a:t>
            </a:r>
            <a:r>
              <a:rPr lang="en-SG" dirty="0" err="1"/>
              <a:t>ForexFactory</a:t>
            </a:r>
            <a:r>
              <a:rPr lang="en-SG" dirty="0"/>
              <a:t> economic calendar: US CPI, Non-Farm Payrolls and FOMC rate decisions, together with euro-area CPI, Core CPI and ECB rate decisions.</a:t>
            </a:r>
          </a:p>
          <a:p>
            <a:r>
              <a:rPr lang="en-SG" dirty="0"/>
              <a:t>After feature construction, the dataset contained 4,727 modelling observations and 48 features. Around nineteen per cent of the days contained at least one tracked event.</a:t>
            </a:r>
          </a:p>
          <a:p>
            <a:r>
              <a:rPr lang="en-SG" dirty="0"/>
              <a:t>Two data-processing decisions were especially important.</a:t>
            </a:r>
          </a:p>
          <a:p>
            <a:r>
              <a:rPr lang="en-SG" dirty="0"/>
              <a:t>The first was availability encoding. A missing forecast is different from an actual surprise of zero, so I added six availability flags to distinguish “no information” from “the result matched expectations.”</a:t>
            </a:r>
          </a:p>
          <a:p>
            <a:r>
              <a:rPr lang="en-SG" dirty="0"/>
              <a:t>The second was prior-only normalisation. Each surprise was ranked only against earlier releases of the same event. Using the full historical sample would allow future information to influence earlier observations.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methodology has five stages.</a:t>
            </a:r>
          </a:p>
          <a:p>
            <a:r>
              <a:rPr lang="en-SG" dirty="0"/>
              <a:t>First, I collected and aligned the event and price data.</a:t>
            </a:r>
          </a:p>
          <a:p>
            <a:r>
              <a:rPr lang="en-SG" dirty="0"/>
              <a:t>Second, I constructed the 48 features covering event surprises, event timing, momentum, volatility, technical indicators and market regime.</a:t>
            </a:r>
          </a:p>
          <a:p>
            <a:r>
              <a:rPr lang="en-SG" dirty="0"/>
              <a:t>Third, I tuned Logistic Regression, Random Forest and </a:t>
            </a:r>
            <a:r>
              <a:rPr lang="en-SG" dirty="0" err="1"/>
              <a:t>XGBoost</a:t>
            </a:r>
            <a:r>
              <a:rPr lang="en-SG" dirty="0"/>
              <a:t> using time-series cross-validation on training data only.</a:t>
            </a:r>
          </a:p>
          <a:p>
            <a:r>
              <a:rPr lang="en-SG" dirty="0"/>
              <a:t>Once the hyperparameters were selected, they were frozen for all later experiments.</a:t>
            </a:r>
          </a:p>
          <a:p>
            <a:r>
              <a:rPr lang="en-SG" dirty="0"/>
              <a:t>Fourth, I conducted the experimental sequence and the wider performance study.</a:t>
            </a:r>
          </a:p>
          <a:p>
            <a:r>
              <a:rPr lang="en-SG" dirty="0"/>
              <a:t>Finally, I evaluated predictive performance, trading performance and interpretability, before exporting the selected model to the dashboard.</a:t>
            </a:r>
          </a:p>
          <a:p>
            <a:r>
              <a:rPr lang="en-SG" dirty="0"/>
              <a:t>Freezing the hyperparameters is important because it ensures that differences between later experiments come from the factor being tested rather than repeated retuning.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An important part of the project was identifying and correcting problems in my earlier pipeline.</a:t>
            </a:r>
          </a:p>
          <a:p>
            <a:r>
              <a:rPr lang="en-SG" dirty="0"/>
              <a:t>The first issue was selection leakage. I had originally chosen the best model based on test performance. That means choosing the winner after seeing the answer. I corrected this by moving model selection to training-only cross-validation.</a:t>
            </a:r>
          </a:p>
          <a:p>
            <a:r>
              <a:rPr lang="en-SG" dirty="0"/>
              <a:t>The second issue was scaling and tuning leakage. Standardisation is now performed inside the modelling pipeline so that the scaler is fitted separately within each training fold.</a:t>
            </a:r>
          </a:p>
          <a:p>
            <a:r>
              <a:rPr lang="en-SG" dirty="0"/>
              <a:t>The third issue was </a:t>
            </a:r>
            <a:r>
              <a:rPr lang="en-SG" dirty="0" err="1"/>
              <a:t>backtest</a:t>
            </a:r>
            <a:r>
              <a:rPr lang="en-SG" dirty="0"/>
              <a:t> timing. Earlier positions were applied to the same day’s return. They are now applied to the following day’s return, with transaction costs charged whenever the position changes.</a:t>
            </a:r>
          </a:p>
          <a:p>
            <a:r>
              <a:rPr lang="en-SG" dirty="0"/>
              <a:t>All three corrections reduced the reported performance. That is expected because removing leakage normally produces more conservative and credible results.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configuration was developed through six initial runs.</a:t>
            </a:r>
          </a:p>
          <a:p>
            <a:r>
              <a:rPr lang="en-SG" dirty="0"/>
              <a:t>Run 1 extended the sample back to 2007, but it also contained the model-selection issue that was later corrected.</a:t>
            </a:r>
          </a:p>
          <a:p>
            <a:r>
              <a:rPr lang="en-SG" dirty="0"/>
              <a:t>Run 2 corrected the event processing, introduced availability encoding and moved model selection to training evidence.</a:t>
            </a:r>
          </a:p>
          <a:p>
            <a:r>
              <a:rPr lang="en-SG" dirty="0"/>
              <a:t>Run 3 compared technical-only, event-only and hybrid feature sets. This produced the central methodological result, which I will show next.</a:t>
            </a:r>
          </a:p>
          <a:p>
            <a:r>
              <a:rPr lang="en-SG" dirty="0"/>
              <a:t>Run 4 tested alternative event encodings, but none improved the baseline. I retained this as a controlled negative result.</a:t>
            </a:r>
          </a:p>
          <a:p>
            <a:r>
              <a:rPr lang="en-SG" dirty="0"/>
              <a:t>Run 5 compared expanding, five-year and ten-year training windows. The ten-year window performed best, although its advantage was not statistically significant.</a:t>
            </a:r>
          </a:p>
          <a:p>
            <a:r>
              <a:rPr lang="en-SG" dirty="0"/>
              <a:t>Run 6 was the final evaluation of the selected Random Forest configuration.</a:t>
            </a:r>
          </a:p>
          <a:p>
            <a:r>
              <a:rPr lang="en-SG" dirty="0"/>
              <a:t>Run 7 then broadened the analysis through the model-and-horizon comparison and the nested model-selection robustness check.</a:t>
            </a:r>
          </a:p>
          <a:p>
            <a:r>
              <a:rPr lang="en-US" dirty="0"/>
              <a:t>
I want to flag that Runs 4 and 5 are reported as they came out, with their p-values, including the one that failed to reach significance.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experiment tests whether the event data genuinely contributes predictive information.</a:t>
            </a:r>
          </a:p>
          <a:p>
            <a:r>
              <a:rPr lang="en-SG" dirty="0"/>
              <a:t>I compared three feature sets across the same 65 walk-forward folds: technical-only, event-only and hybrid.</a:t>
            </a:r>
          </a:p>
          <a:p>
            <a:r>
              <a:rPr lang="en-SG" dirty="0"/>
              <a:t>The hybrid feature set performs best for all three model families.</a:t>
            </a:r>
          </a:p>
          <a:p>
            <a:r>
              <a:rPr lang="en-SG" dirty="0"/>
              <a:t>For Random Forest, removing the event features reduces AUC by 0.0176, with a two-sided p-value of 0.0041. Removing market-context features reduces AUC by 0.0235.</a:t>
            </a:r>
          </a:p>
          <a:p>
            <a:r>
              <a:rPr lang="en-SG" dirty="0"/>
              <a:t>The event-only model is close to random, so event data is not sufficient by itself. However, when combined with momentum, volatility and regime information, it produces a measurable improvement.</a:t>
            </a:r>
          </a:p>
          <a:p>
            <a:r>
              <a:rPr lang="en-SG" dirty="0"/>
              <a:t>My interpretation is that event information is conditioning rather than driving. The model needs market context to understand how a particular surprise may be interpreted.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final evaluation uses purged walk-forward validation.</a:t>
            </a:r>
          </a:p>
          <a:p>
            <a:r>
              <a:rPr lang="en-SG" dirty="0"/>
              <a:t>Each fold contains a ten-year rolling training window, a 252-day validation window, a purge gap and a 60-day unseen test window.</a:t>
            </a:r>
          </a:p>
          <a:p>
            <a:r>
              <a:rPr lang="en-SG" dirty="0"/>
              <a:t>The window then moves forward by 60 trading days and repeats 36 times, giving 2,160 out-of-sample predictions.</a:t>
            </a:r>
          </a:p>
          <a:p>
            <a:r>
              <a:rPr lang="en-SG" dirty="0"/>
              <a:t>The purge gap is necessary because the target depends on the following day’s closing price. Without a gap, the last training label could use a price that belongs to the evaluation period.</a:t>
            </a:r>
          </a:p>
          <a:p>
            <a:r>
              <a:rPr lang="en-SG" dirty="0"/>
              <a:t>The confidence threshold is also selected using validation data only. The test folds are never used to choose the model, threshold or hyperparameters.</a:t>
            </a:r>
          </a:p>
          <a:p>
            <a:r>
              <a:rPr lang="en-SG" dirty="0"/>
              <a:t>This design prevents the main leakage paths and ensures that each reported prediction is genuinely out of sample.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headline predictive result.
</a:t>
            </a:r>
            <a:r>
              <a:rPr lang="en-SG" dirty="0"/>
              <a:t>An AUC of 0.50 represents random ranking, so this is a modest advantage rather than a highly accurate forecast.</a:t>
            </a:r>
          </a:p>
          <a:p>
            <a:r>
              <a:rPr lang="en-SG" dirty="0"/>
              <a:t>Twenty-six of the 36 folds were above 0.50, and the pooled AUC across all 2,160 predictions was 0.5145.</a:t>
            </a:r>
          </a:p>
          <a:p>
            <a:r>
              <a:rPr lang="en-SG" dirty="0"/>
              <a:t>The fold-level test produced a one-sided p-value of 0.000316. Even after applying a conservative Bonferroni adjustment for the earlier configurations that competed for selection, the result remains below 0.01.</a:t>
            </a:r>
          </a:p>
          <a:p>
            <a:r>
              <a:rPr lang="en-SG" dirty="0"/>
              <a:t>However, this test is treated as exploratory because neighbouring models use heavily overlapping training windows.</a:t>
            </a:r>
          </a:p>
          <a:p>
            <a:r>
              <a:rPr lang="en-SG" dirty="0"/>
              <a:t>The correct conclusion is therefore that the signal is small and measurable, not that daily direction can be predicted reliably.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Logistic Regression, Random Forest and </a:t>
            </a:r>
            <a:r>
              <a:rPr lang="en-SG" dirty="0" err="1"/>
              <a:t>XGBoost</a:t>
            </a:r>
            <a:r>
              <a:rPr lang="en-SG" dirty="0"/>
              <a:t> were each evaluated at one-day, three-day and five-day horizons.</a:t>
            </a:r>
          </a:p>
          <a:p>
            <a:r>
              <a:rPr lang="en-SG" dirty="0"/>
              <a:t>All nine configurations used the same test days, frozen hyperparameters and a five-day purge gap. This makes the comparison fair because the model family and prediction horizon are the main factors that change.</a:t>
            </a:r>
          </a:p>
          <a:p>
            <a:r>
              <a:rPr lang="en-SG" dirty="0"/>
              <a:t>I did not test a one-hour horizon because my scraper did not capture historical release times, while freely available intraday price history covered only a small part of the eighteen-year sample.</a:t>
            </a:r>
          </a:p>
          <a:p>
            <a:r>
              <a:rPr lang="en-SG" dirty="0"/>
              <a:t>Intraday evaluation is therefore recorded as the main item for future 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key result is that predictive accuracy is lower at five days than at one day for every model family.</a:t>
            </a:r>
          </a:p>
          <a:p>
            <a:r>
              <a:rPr lang="en-SG" dirty="0"/>
              <a:t>Logistic Regression falls from approximately 0.540 to 0.514. Random Forest falls from approximately 0.539 to 0.506, while </a:t>
            </a:r>
            <a:r>
              <a:rPr lang="en-SG" dirty="0" err="1"/>
              <a:t>XGBoost</a:t>
            </a:r>
            <a:r>
              <a:rPr lang="en-SG" dirty="0"/>
              <a:t> falls from 0.508 to 0.444.</a:t>
            </a:r>
          </a:p>
          <a:p>
            <a:r>
              <a:rPr lang="en-SG" dirty="0"/>
              <a:t>Logistic Regression and </a:t>
            </a:r>
            <a:r>
              <a:rPr lang="en-SG" dirty="0" err="1"/>
              <a:t>XGBoost</a:t>
            </a:r>
            <a:r>
              <a:rPr lang="en-SG" dirty="0"/>
              <a:t> decline monotonically. Random Forest is effectively unchanged between one and three days before falling at five days.</a:t>
            </a:r>
          </a:p>
          <a:p>
            <a:r>
              <a:rPr lang="en-SG" dirty="0"/>
              <a:t>This is consistent with the event-driven premise. Announcement information is absorbed quickly, so extending the prediction horizon adds unrelated market movement and weakens the event signal.</a:t>
            </a:r>
          </a:p>
          <a:p>
            <a:r>
              <a:rPr lang="en-SG" dirty="0"/>
              <a:t>This result does not prove that an intraday model would perform better, but it provides a clear reason to test shorter horizons in future work.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strongest trading result in the grid came from the one-day Logistic Regression overlay.</a:t>
            </a:r>
          </a:p>
          <a:p>
            <a:r>
              <a:rPr lang="en-SG" dirty="0"/>
              <a:t>It returned 18.81 per cent compared with 1.47 per cent for Buy and Hold, while also reducing maximum drawdown.</a:t>
            </a:r>
          </a:p>
          <a:p>
            <a:r>
              <a:rPr lang="en-SG" dirty="0"/>
              <a:t>However, I investigated where that apparent advantage came from.</a:t>
            </a:r>
          </a:p>
          <a:p>
            <a:r>
              <a:rPr lang="en-SG" dirty="0"/>
              <a:t>The strategy beat Buy and Hold in only 20 of the 36 folds. More importantly, 93 per cent of its arithmetic active return came from only three non-consecutive folds during the 2021–2022 euro decline.</a:t>
            </a:r>
          </a:p>
          <a:p>
            <a:r>
              <a:rPr lang="en-SG" dirty="0"/>
              <a:t>In two of those three folds, the model’s AUC was at or close to random.</a:t>
            </a:r>
          </a:p>
          <a:p>
            <a:r>
              <a:rPr lang="en-SG" dirty="0"/>
              <a:t>Therefore, the return was largely caused by the structure of the overlay. It normally stays invested but moves to cash after a downward signal. During a sustained decline, reducing exposure can outperform continuous holding even when the day-to-day predictions are weak.</a:t>
            </a:r>
          </a:p>
          <a:p>
            <a:r>
              <a:rPr lang="en-SG" dirty="0"/>
              <a:t>This is why I do not present the 18.81 per cent figure as evidence of consistent forecasting skill.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model-and-horizon grid also creates a possible hindsight concern because nine configurations were inspected.</a:t>
            </a:r>
          </a:p>
          <a:p>
            <a:r>
              <a:rPr lang="en-SG" dirty="0"/>
              <a:t>To address this, I moved model-family selection inside each walk-forward fold.</a:t>
            </a:r>
          </a:p>
          <a:p>
            <a:r>
              <a:rPr lang="en-SG" dirty="0"/>
              <a:t>Logistic Regression, Random Forest and </a:t>
            </a:r>
            <a:r>
              <a:rPr lang="en-SG" dirty="0" err="1"/>
              <a:t>XGBoost</a:t>
            </a:r>
            <a:r>
              <a:rPr lang="en-SG" dirty="0"/>
              <a:t> were fitted using the inner training period and compared using the validation period. The best validation model was then retrained and evaluated once on the unseen test fold.</a:t>
            </a:r>
          </a:p>
          <a:p>
            <a:r>
              <a:rPr lang="en-SG" dirty="0"/>
              <a:t>This nested procedure achieved a mean AUC of 0.5324.</a:t>
            </a:r>
          </a:p>
          <a:p>
            <a:r>
              <a:rPr lang="en-SG" dirty="0"/>
              <a:t>That is 0.0075 below the strongest fixed model, which can be interpreted as the cost of removing hindsight.</a:t>
            </a:r>
          </a:p>
          <a:p>
            <a:r>
              <a:rPr lang="en-SG" dirty="0"/>
              <a:t>However, its fold-to-fold standard deviation was lower than that of any fixed model, and it remained above 0.50 in 26 of 36 folds.</a:t>
            </a:r>
          </a:p>
          <a:p>
            <a:r>
              <a:rPr lang="en-SG" dirty="0"/>
              <a:t>The fold-level result remains exploratory, but the procedure demonstrates that the signal does not disappear when model selection is performed entirely within the walk-forward process.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nested procedure did not identify one model as consistently superior.</a:t>
            </a:r>
          </a:p>
          <a:p>
            <a:r>
              <a:rPr lang="en-SG" dirty="0"/>
              <a:t>It selected Logistic Regression in 19 folds, Random Forest in 11 and </a:t>
            </a:r>
            <a:r>
              <a:rPr lang="en-SG" dirty="0" err="1"/>
              <a:t>XGBoost</a:t>
            </a:r>
            <a:r>
              <a:rPr lang="en-SG" dirty="0"/>
              <a:t> in 6. It also changed its selection in 16 of the 35 fold transitions.</a:t>
            </a:r>
          </a:p>
          <a:p>
            <a:r>
              <a:rPr lang="en-SG" dirty="0"/>
              <a:t>This shows that the differences between the model families are small compared with the fold-to-fold noise.</a:t>
            </a:r>
          </a:p>
          <a:p>
            <a:r>
              <a:rPr lang="en-SG" dirty="0"/>
              <a:t>For deployment, I applied the same selection rule to the most recent validation period.</a:t>
            </a:r>
          </a:p>
          <a:p>
            <a:r>
              <a:rPr lang="en-SG" dirty="0"/>
              <a:t>Random Forest achieved a validation AUC of 0.5709, compared with 0.5677 for Logistic Regression, so Random Forest was selected for deployment.</a:t>
            </a:r>
          </a:p>
          <a:p>
            <a:r>
              <a:rPr lang="en-SG" dirty="0"/>
              <a:t>The margin was only 0.0032, so I do not claim that Random Forest is universally better. It is simply the model selected for the current deployment window using the documented procedure.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 used three interpretability methods because they answer different questions.</a:t>
            </a:r>
          </a:p>
          <a:p>
            <a:r>
              <a:rPr lang="en-SG" dirty="0"/>
              <a:t>Permutation importance asks which individual features matter when their values are shuffled. This mainly highlights short-term returns, momentum and price-position variables.</a:t>
            </a:r>
          </a:p>
          <a:p>
            <a:r>
              <a:rPr lang="en-SG" dirty="0"/>
              <a:t>SHAP explains how individual features contribute to individual predictions. It also places market-context variables near the top, with CPI surprise appearing among the stronger event variables.</a:t>
            </a:r>
          </a:p>
          <a:p>
            <a:r>
              <a:rPr lang="en-SG" dirty="0"/>
              <a:t>Feature-set ablation asks a broader question: does the complete event-feature family add value when the model is retrained without it?</a:t>
            </a:r>
          </a:p>
          <a:p>
            <a:r>
              <a:rPr lang="en-SG" dirty="0"/>
              <a:t>The ablation study shows that it does.</a:t>
            </a:r>
          </a:p>
          <a:p>
            <a:r>
              <a:rPr lang="en-SG" dirty="0"/>
              <a:t>Therefore, the results are not contradictory. Market-context variables carry more individual importance, while the event features contribute collectively by changing how the model interprets momentum and regime.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final deliverable is a five-page </a:t>
            </a:r>
            <a:r>
              <a:rPr lang="en-SG" dirty="0" err="1"/>
              <a:t>Streamlit</a:t>
            </a:r>
            <a:r>
              <a:rPr lang="en-SG" dirty="0"/>
              <a:t> dashboard.</a:t>
            </a:r>
          </a:p>
          <a:p>
            <a:r>
              <a:rPr lang="en-SG" dirty="0"/>
              <a:t>GitHub Actions updates the event data, while recent EUR/USD prices are obtained from </a:t>
            </a:r>
            <a:r>
              <a:rPr lang="en-SG" dirty="0" err="1"/>
              <a:t>yfinance</a:t>
            </a:r>
            <a:r>
              <a:rPr lang="en-SG" dirty="0"/>
              <a:t>.</a:t>
            </a:r>
          </a:p>
          <a:p>
            <a:r>
              <a:rPr lang="en-SG" dirty="0"/>
              <a:t>The live application uses the same feature-construction code as the training pipeline. This reduces train-serve skew because the offline and live inputs are built using one implementation.</a:t>
            </a:r>
          </a:p>
          <a:p>
            <a:r>
              <a:rPr lang="en-SG" dirty="0"/>
              <a:t>The saved Random Forest pipeline outputs the probability of an upward movement.</a:t>
            </a:r>
          </a:p>
          <a:p>
            <a:r>
              <a:rPr lang="en-SG" dirty="0"/>
              <a:t>A probability of at least 0.52 produces BUY, a probability of 0.48 or below produces SELL, and values between them produce HOLD. Every signal is recorded in the signal log.</a:t>
            </a:r>
          </a:p>
          <a:p>
            <a:r>
              <a:rPr lang="en-SG" dirty="0"/>
              <a:t>MetaTrader5 execution was descoped because the results do not support autonomous trading. The dashboard fulfils the decision-support objective without automatically placing financially risky trades.</a:t>
            </a:r>
          </a:p>
          <a:p>
            <a:r>
              <a:rPr lang="en-SG" dirty="0"/>
              <a:t>I will now give a short demonstration of the dashboard.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There are several important limitations.</a:t>
            </a:r>
          </a:p>
          <a:p>
            <a:r>
              <a:rPr lang="en-SG" dirty="0"/>
              <a:t>First, announcement effects mainly occur intraday, while this project predicts the next day’s direction.</a:t>
            </a:r>
          </a:p>
          <a:p>
            <a:r>
              <a:rPr lang="en-SG" dirty="0"/>
              <a:t>Second, actual minus forecast is an imperfect measure of policy surprise. For central-bank decisions, futures-implied expectations would provide a stronger measure.</a:t>
            </a:r>
          </a:p>
          <a:p>
            <a:r>
              <a:rPr lang="en-SG" dirty="0"/>
              <a:t>Third, although the test windows do not overlap, the ten-year training windows overlap heavily. A block permutation test would therefore provide a stronger significance test.</a:t>
            </a:r>
          </a:p>
          <a:p>
            <a:r>
              <a:rPr lang="en-SG" dirty="0"/>
              <a:t>Fourth, the trading result is sensitive to transaction costs. The selected overlay is positive at one basis point but becomes negative from two basis points onward.</a:t>
            </a:r>
          </a:p>
          <a:p>
            <a:r>
              <a:rPr lang="en-SG" dirty="0"/>
              <a:t>Finally, all returns and drawdowns come from one historical EUR/USD path, so they should be treated as suggestive rather than universally demonstrated.</a:t>
            </a:r>
          </a:p>
          <a:p>
            <a:r>
              <a:rPr lang="en-SG" dirty="0"/>
              <a:t>These limitations define how far the findings can reasonably be interpreted.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To conclude, the project produced three main findings.</a:t>
            </a:r>
          </a:p>
          <a:p>
            <a:r>
              <a:rPr lang="en-SG" dirty="0"/>
              <a:t>First, there is a small but statistically detectable daily EUR/USD signal. The selected Random Forest configuration achieved a mean fold AUC of 0.5389, while the nested model-selection procedure achieved 0.5324.</a:t>
            </a:r>
          </a:p>
          <a:p>
            <a:r>
              <a:rPr lang="en-SG" dirty="0"/>
              <a:t>Second, the signal weakens as the prediction horizon increases. This is consistent across the three model families and identifies daily sampling as a major constraint.</a:t>
            </a:r>
          </a:p>
          <a:p>
            <a:r>
              <a:rPr lang="en-SG" dirty="0"/>
              <a:t>Third, the most defensible use of the signal is risk filtering rather than return generation. The selected overlay reduced maximum drawdown from 23.29 per cent to 18.81 per cent at a broadly comparable return, while the strongest return result was concentrated in a small number of declining-market folds.</a:t>
            </a:r>
          </a:p>
          <a:p>
            <a:r>
              <a:rPr lang="en-SG" dirty="0"/>
              <a:t>The final system is therefore best described as a decision-support and risk-management assistant rather than an autonomous trading strategy.</a:t>
            </a:r>
          </a:p>
          <a:p>
            <a:r>
              <a:rPr lang="en-SG" dirty="0"/>
              <a:t>Future work should evaluate intraday horizons with release timestamps, use stronger policy-surprise measures, apply block-based significance testing and test additional currency pairs.</a:t>
            </a:r>
          </a:p>
          <a:p>
            <a:r>
              <a:rPr lang="en-SG" dirty="0"/>
              <a:t>Thank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1965960"/>
            <a:ext cx="12188952" cy="2286000"/>
          </a:xfrm>
          <a:prstGeom prst="rect">
            <a:avLst/>
          </a:prstGeom>
          <a:solidFill>
            <a:srgbClr val="1F3864"/>
          </a:solidFill>
          <a:ln/>
        </p:spPr>
        <p:txBody>
          <a:bodyPr/>
          <a:lstStyle/>
          <a:p>
            <a:endParaRPr lang="en-SG"/>
          </a:p>
        </p:txBody>
      </p:sp>
      <p:sp>
        <p:nvSpPr>
          <p:cNvPr id="3" name="Text 1"/>
          <p:cNvSpPr/>
          <p:nvPr/>
        </p:nvSpPr>
        <p:spPr>
          <a:xfrm>
            <a:off x="731520" y="2240280"/>
            <a:ext cx="10698480" cy="1097280"/>
          </a:xfrm>
          <a:prstGeom prst="rect">
            <a:avLst/>
          </a:prstGeom>
          <a:noFill/>
          <a:ln/>
        </p:spPr>
        <p:txBody>
          <a:bodyPr wrap="square" lIns="0" tIns="0" rIns="0" bIns="0" rtlCol="0" anchor="ctr"/>
          <a:lstStyle/>
          <a:p>
            <a:pPr marL="0" indent="0">
              <a:lnSpc>
                <a:spcPts val="3800"/>
              </a:lnSpc>
              <a:buNone/>
            </a:pPr>
            <a:r>
              <a:rPr lang="en-US" sz="3000" b="1" dirty="0">
                <a:solidFill>
                  <a:srgbClr val="FFFFFF"/>
                </a:solidFill>
                <a:latin typeface="Calibri" pitchFamily="34" charset="0"/>
                <a:ea typeface="Calibri" pitchFamily="34" charset="-122"/>
                <a:cs typeface="Calibri" pitchFamily="34" charset="-120"/>
              </a:rPr>
              <a:t>Economic Event-Driven Forex Trading Assistant</a:t>
            </a:r>
            <a:endParaRPr lang="en-US" sz="3000" dirty="0"/>
          </a:p>
          <a:p>
            <a:pPr marL="0" indent="0">
              <a:lnSpc>
                <a:spcPts val="3800"/>
              </a:lnSpc>
              <a:buNone/>
            </a:pPr>
            <a:r>
              <a:rPr lang="en-US" sz="3000" b="1" dirty="0">
                <a:solidFill>
                  <a:srgbClr val="FFFFFF"/>
                </a:solidFill>
                <a:latin typeface="Calibri" pitchFamily="34" charset="0"/>
                <a:ea typeface="Calibri" pitchFamily="34" charset="-122"/>
                <a:cs typeface="Calibri" pitchFamily="34" charset="-120"/>
              </a:rPr>
              <a:t>using Machine Learning</a:t>
            </a:r>
            <a:endParaRPr lang="en-US" sz="3000" dirty="0"/>
          </a:p>
        </p:txBody>
      </p:sp>
      <p:sp>
        <p:nvSpPr>
          <p:cNvPr id="4" name="Text 2"/>
          <p:cNvSpPr/>
          <p:nvPr/>
        </p:nvSpPr>
        <p:spPr>
          <a:xfrm>
            <a:off x="731520" y="3429000"/>
            <a:ext cx="10698480" cy="365760"/>
          </a:xfrm>
          <a:prstGeom prst="rect">
            <a:avLst/>
          </a:prstGeom>
          <a:noFill/>
          <a:ln/>
        </p:spPr>
        <p:txBody>
          <a:bodyPr wrap="square" lIns="0" tIns="0" rIns="0" bIns="0" rtlCol="0" anchor="ctr"/>
          <a:lstStyle/>
          <a:p>
            <a:pPr marL="0" indent="0">
              <a:buNone/>
            </a:pPr>
            <a:r>
              <a:rPr lang="en-US" sz="1500" dirty="0">
                <a:solidFill>
                  <a:srgbClr val="CBD5E4"/>
                </a:solidFill>
                <a:latin typeface="Calibri" pitchFamily="34" charset="0"/>
                <a:ea typeface="Calibri" pitchFamily="34" charset="-122"/>
                <a:cs typeface="Calibri" pitchFamily="34" charset="-120"/>
              </a:rPr>
              <a:t>How much of daily EUR/USD direction is predictable from macroeconomic event surprises?</a:t>
            </a:r>
            <a:endParaRPr lang="en-US" sz="1500" dirty="0"/>
          </a:p>
        </p:txBody>
      </p:sp>
      <p:sp>
        <p:nvSpPr>
          <p:cNvPr id="5" name="Text 3"/>
          <p:cNvSpPr/>
          <p:nvPr/>
        </p:nvSpPr>
        <p:spPr>
          <a:xfrm>
            <a:off x="731520" y="4617720"/>
            <a:ext cx="10698480" cy="292608"/>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Muhammad Mursyid Bin Hassan   ·   2300435</a:t>
            </a:r>
            <a:endParaRPr lang="en-US" sz="1500" dirty="0"/>
          </a:p>
        </p:txBody>
      </p:sp>
      <p:sp>
        <p:nvSpPr>
          <p:cNvPr id="6" name="Text 4"/>
          <p:cNvSpPr/>
          <p:nvPr/>
        </p:nvSpPr>
        <p:spPr>
          <a:xfrm>
            <a:off x="731520" y="4983480"/>
            <a:ext cx="10698480" cy="640080"/>
          </a:xfrm>
          <a:prstGeom prst="rect">
            <a:avLst/>
          </a:prstGeom>
          <a:noFill/>
          <a:ln/>
        </p:spPr>
        <p:txBody>
          <a:bodyPr wrap="square" lIns="0" tIns="0" rIns="0" bIns="0" rtlCol="0" anchor="ctr"/>
          <a:lstStyle/>
          <a:p>
            <a:pPr marL="0" indent="0">
              <a:lnSpc>
                <a:spcPts val="1800"/>
              </a:lnSpc>
              <a:buNone/>
            </a:pPr>
            <a:r>
              <a:rPr lang="en-US" sz="1300" dirty="0">
                <a:solidFill>
                  <a:srgbClr val="5A5A5A"/>
                </a:solidFill>
                <a:latin typeface="Calibri" pitchFamily="34" charset="0"/>
                <a:ea typeface="Calibri" pitchFamily="34" charset="-122"/>
                <a:cs typeface="Calibri" pitchFamily="34" charset="-120"/>
              </a:rPr>
              <a:t>ICT3902C Capstone Project   ·   B.Eng. (Hons) Applied Computing</a:t>
            </a:r>
            <a:endParaRPr lang="en-US" sz="1300" dirty="0"/>
          </a:p>
          <a:p>
            <a:pPr marL="0" indent="0">
              <a:lnSpc>
                <a:spcPts val="1800"/>
              </a:lnSpc>
              <a:buNone/>
            </a:pPr>
            <a:r>
              <a:rPr lang="en-US" sz="1300" dirty="0">
                <a:solidFill>
                  <a:srgbClr val="5A5A5A"/>
                </a:solidFill>
                <a:latin typeface="Calibri" pitchFamily="34" charset="0"/>
                <a:ea typeface="Calibri" pitchFamily="34" charset="-122"/>
                <a:cs typeface="Calibri" pitchFamily="34" charset="-120"/>
              </a:rPr>
              <a:t>Supervisor: Dr Li Xiaorong   ·   Singapore Institute of Technology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The Problem</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Why this is a hard question, and why that matters for how you read the results</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457200" y="1234440"/>
            <a:ext cx="3566160" cy="1874520"/>
          </a:xfrm>
          <a:prstGeom prst="roundRect">
            <a:avLst>
              <a:gd name="adj" fmla="val 2439"/>
            </a:avLst>
          </a:prstGeom>
          <a:solidFill>
            <a:srgbClr val="FFFFFF"/>
          </a:solidFill>
          <a:ln w="12700">
            <a:solidFill>
              <a:srgbClr val="B4B4B4"/>
            </a:solidFill>
            <a:prstDash val="solid"/>
          </a:ln>
        </p:spPr>
        <p:txBody>
          <a:bodyPr/>
          <a:lstStyle/>
          <a:p>
            <a:endParaRPr lang="en-SG"/>
          </a:p>
        </p:txBody>
      </p:sp>
      <p:sp>
        <p:nvSpPr>
          <p:cNvPr id="6" name="Text 4"/>
          <p:cNvSpPr/>
          <p:nvPr/>
        </p:nvSpPr>
        <p:spPr>
          <a:xfrm>
            <a:off x="594360" y="1344168"/>
            <a:ext cx="329184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The opportunity</a:t>
            </a:r>
            <a:endParaRPr lang="en-US" sz="1300" dirty="0"/>
          </a:p>
        </p:txBody>
      </p:sp>
      <p:sp>
        <p:nvSpPr>
          <p:cNvPr id="7" name="Text 5"/>
          <p:cNvSpPr/>
          <p:nvPr/>
        </p:nvSpPr>
        <p:spPr>
          <a:xfrm>
            <a:off x="594360" y="1636776"/>
            <a:ext cx="3291840" cy="1362456"/>
          </a:xfrm>
          <a:prstGeom prst="rect">
            <a:avLst/>
          </a:prstGeom>
          <a:noFill/>
          <a:ln/>
        </p:spPr>
        <p:txBody>
          <a:bodyPr wrap="square" lIns="0" tIns="0" rIns="0" bIns="0" rtlCol="0" anchor="t"/>
          <a:lstStyle/>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EUR/USD is the most traded pair in the largest financial market in the world.</a:t>
            </a:r>
            <a:endParaRPr lang="en-US" sz="1150" dirty="0"/>
          </a:p>
          <a:p>
            <a:pPr marL="0" indent="0">
              <a:lnSpc>
                <a:spcPts val="1400"/>
              </a:lnSpc>
              <a:buNone/>
            </a:pPr>
            <a:endParaRPr lang="en-US" sz="1150" dirty="0"/>
          </a:p>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Scheduled macro releases move it sharply within minutes: CPI, payrolls, central bank decisions.</a:t>
            </a:r>
            <a:endParaRPr lang="en-US" sz="1150" dirty="0"/>
          </a:p>
        </p:txBody>
      </p:sp>
      <p:sp>
        <p:nvSpPr>
          <p:cNvPr id="8" name="Shape 6"/>
          <p:cNvSpPr/>
          <p:nvPr/>
        </p:nvSpPr>
        <p:spPr>
          <a:xfrm>
            <a:off x="4251960" y="1234440"/>
            <a:ext cx="3566160" cy="1874520"/>
          </a:xfrm>
          <a:prstGeom prst="roundRect">
            <a:avLst>
              <a:gd name="adj" fmla="val 2439"/>
            </a:avLst>
          </a:prstGeom>
          <a:solidFill>
            <a:srgbClr val="FFFFFF"/>
          </a:solidFill>
          <a:ln w="12700">
            <a:solidFill>
              <a:srgbClr val="B4B4B4"/>
            </a:solidFill>
            <a:prstDash val="solid"/>
          </a:ln>
        </p:spPr>
        <p:txBody>
          <a:bodyPr/>
          <a:lstStyle/>
          <a:p>
            <a:endParaRPr lang="en-SG"/>
          </a:p>
        </p:txBody>
      </p:sp>
      <p:sp>
        <p:nvSpPr>
          <p:cNvPr id="9" name="Text 7"/>
          <p:cNvSpPr/>
          <p:nvPr/>
        </p:nvSpPr>
        <p:spPr>
          <a:xfrm>
            <a:off x="4389120" y="1344168"/>
            <a:ext cx="329184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The difficulty</a:t>
            </a:r>
            <a:endParaRPr lang="en-US" sz="1300" dirty="0"/>
          </a:p>
        </p:txBody>
      </p:sp>
      <p:sp>
        <p:nvSpPr>
          <p:cNvPr id="10" name="Text 8"/>
          <p:cNvSpPr/>
          <p:nvPr/>
        </p:nvSpPr>
        <p:spPr>
          <a:xfrm>
            <a:off x="4389120" y="1636776"/>
            <a:ext cx="3291840" cy="1362456"/>
          </a:xfrm>
          <a:prstGeom prst="rect">
            <a:avLst/>
          </a:prstGeom>
          <a:noFill/>
          <a:ln/>
        </p:spPr>
        <p:txBody>
          <a:bodyPr wrap="square" lIns="0" tIns="0" rIns="0" bIns="0" rtlCol="0" anchor="t"/>
          <a:lstStyle/>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Markets price in the consensus forecast before release.</a:t>
            </a:r>
            <a:endParaRPr lang="en-US" sz="1150" dirty="0"/>
          </a:p>
          <a:p>
            <a:pPr marL="0" indent="0">
              <a:lnSpc>
                <a:spcPts val="1400"/>
              </a:lnSpc>
              <a:buNone/>
            </a:pPr>
            <a:endParaRPr lang="en-US" sz="1150" dirty="0"/>
          </a:p>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Only the surprise, actual minus forecast, is potentially tradeable, and the same surprise moves the market differently in different regimes.</a:t>
            </a:r>
            <a:endParaRPr lang="en-US" sz="1150" dirty="0"/>
          </a:p>
        </p:txBody>
      </p:sp>
      <p:sp>
        <p:nvSpPr>
          <p:cNvPr id="11" name="Shape 9"/>
          <p:cNvSpPr/>
          <p:nvPr/>
        </p:nvSpPr>
        <p:spPr>
          <a:xfrm>
            <a:off x="8046720" y="1234440"/>
            <a:ext cx="3657600" cy="1874520"/>
          </a:xfrm>
          <a:prstGeom prst="roundRect">
            <a:avLst>
              <a:gd name="adj" fmla="val 2439"/>
            </a:avLst>
          </a:prstGeom>
          <a:solidFill>
            <a:srgbClr val="FFFFFF"/>
          </a:solidFill>
          <a:ln w="12700">
            <a:solidFill>
              <a:srgbClr val="2E5C8A"/>
            </a:solidFill>
            <a:prstDash val="solid"/>
          </a:ln>
        </p:spPr>
        <p:txBody>
          <a:bodyPr/>
          <a:lstStyle/>
          <a:p>
            <a:endParaRPr lang="en-SG"/>
          </a:p>
        </p:txBody>
      </p:sp>
      <p:sp>
        <p:nvSpPr>
          <p:cNvPr id="12" name="Text 10"/>
          <p:cNvSpPr/>
          <p:nvPr/>
        </p:nvSpPr>
        <p:spPr>
          <a:xfrm>
            <a:off x="8183880" y="1344168"/>
            <a:ext cx="338328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The literature</a:t>
            </a:r>
            <a:endParaRPr lang="en-US" sz="1300" dirty="0"/>
          </a:p>
        </p:txBody>
      </p:sp>
      <p:sp>
        <p:nvSpPr>
          <p:cNvPr id="13" name="Text 11"/>
          <p:cNvSpPr/>
          <p:nvPr/>
        </p:nvSpPr>
        <p:spPr>
          <a:xfrm>
            <a:off x="8183880" y="1636776"/>
            <a:ext cx="3383280" cy="1362456"/>
          </a:xfrm>
          <a:prstGeom prst="rect">
            <a:avLst/>
          </a:prstGeom>
          <a:noFill/>
          <a:ln/>
        </p:spPr>
        <p:txBody>
          <a:bodyPr wrap="square" lIns="0" tIns="0" rIns="0" bIns="0" rtlCol="0" anchor="t"/>
          <a:lstStyle/>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Meese and Rogoff (1983): a random walk beats structural exchange-rate models out of sample. Still largely unresolved.</a:t>
            </a:r>
            <a:endParaRPr lang="en-US" sz="1150" dirty="0"/>
          </a:p>
          <a:p>
            <a:pPr marL="0" indent="0">
              <a:lnSpc>
                <a:spcPts val="1400"/>
              </a:lnSpc>
              <a:buNone/>
            </a:pPr>
            <a:endParaRPr lang="en-US" sz="1150" dirty="0"/>
          </a:p>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Andersen et al. (2003): announcement effects are absorbed within minutes.</a:t>
            </a:r>
            <a:endParaRPr lang="en-US" sz="1150" dirty="0"/>
          </a:p>
        </p:txBody>
      </p:sp>
      <p:sp>
        <p:nvSpPr>
          <p:cNvPr id="14" name="Shape 12"/>
          <p:cNvSpPr/>
          <p:nvPr/>
        </p:nvSpPr>
        <p:spPr>
          <a:xfrm>
            <a:off x="457200" y="3429000"/>
            <a:ext cx="11247120" cy="868680"/>
          </a:xfrm>
          <a:prstGeom prst="rect">
            <a:avLst/>
          </a:prstGeom>
          <a:solidFill>
            <a:srgbClr val="EEF2F7"/>
          </a:solidFill>
          <a:ln w="9525">
            <a:solidFill>
              <a:srgbClr val="DCE3EC"/>
            </a:solidFill>
            <a:prstDash val="solid"/>
          </a:ln>
        </p:spPr>
        <p:txBody>
          <a:bodyPr/>
          <a:lstStyle/>
          <a:p>
            <a:endParaRPr lang="en-SG"/>
          </a:p>
        </p:txBody>
      </p:sp>
      <p:sp>
        <p:nvSpPr>
          <p:cNvPr id="15" name="Text 13"/>
          <p:cNvSpPr/>
          <p:nvPr/>
        </p:nvSpPr>
        <p:spPr>
          <a:xfrm>
            <a:off x="713232" y="3566160"/>
            <a:ext cx="10735056" cy="59436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The daily horizon used here is longer than the window in which announcement effects are absorbed. Section 5.9 measures the cost of that choice.</a:t>
            </a:r>
            <a:endParaRPr lang="en-US" sz="1400" dirty="0"/>
          </a:p>
        </p:txBody>
      </p:sp>
      <p:sp>
        <p:nvSpPr>
          <p:cNvPr id="16" name="Text 14"/>
          <p:cNvSpPr/>
          <p:nvPr/>
        </p:nvSpPr>
        <p:spPr>
          <a:xfrm>
            <a:off x="457200" y="4572000"/>
            <a:ext cx="112471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What I set out to measure</a:t>
            </a:r>
            <a:endParaRPr lang="en-US" sz="1500" dirty="0"/>
          </a:p>
        </p:txBody>
      </p:sp>
      <p:sp>
        <p:nvSpPr>
          <p:cNvPr id="17" name="Text 15"/>
          <p:cNvSpPr/>
          <p:nvPr/>
        </p:nvSpPr>
        <p:spPr>
          <a:xfrm>
            <a:off x="457200" y="4919472"/>
            <a:ext cx="11247120" cy="11887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How much directional information public event-surprise data carries at daily granularity</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Which feature families contribute that information, tested rather than asserted</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Whether the resulting signal improves risk-adjusted performance against Buy and Hold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Data</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Eighteen years of prices aligned with six macroeconomic event families</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3</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852160" cy="1828800"/>
        </p:xfrm>
        <a:graphic>
          <a:graphicData uri="http://schemas.openxmlformats.org/drawingml/2006/table">
            <a:tbl>
              <a:tblPr/>
              <a:tblGrid>
                <a:gridCol w="23774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65760">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Coverage</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Detail</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6576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yfinance EUR/USD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Oct 2007 – Dec 2025</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Daily OHLC</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ForexFactory calendar</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Six event families</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Scraped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Merged dataset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4,727 rows</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48 features</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Event days</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953</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19.3%</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6537960" y="1280160"/>
            <a:ext cx="5166360" cy="1828800"/>
          </a:xfrm>
          <a:prstGeom prst="roundRect">
            <a:avLst>
              <a:gd name="adj" fmla="val 2500"/>
            </a:avLst>
          </a:prstGeom>
          <a:solidFill>
            <a:srgbClr val="FFFFFF"/>
          </a:solidFill>
          <a:ln w="12700">
            <a:solidFill>
              <a:srgbClr val="2E5C8A"/>
            </a:solidFill>
            <a:prstDash val="solid"/>
          </a:ln>
        </p:spPr>
        <p:txBody>
          <a:bodyPr/>
          <a:lstStyle/>
          <a:p>
            <a:endParaRPr lang="en-SG"/>
          </a:p>
        </p:txBody>
      </p:sp>
      <p:sp>
        <p:nvSpPr>
          <p:cNvPr id="7" name="Text 4"/>
          <p:cNvSpPr/>
          <p:nvPr/>
        </p:nvSpPr>
        <p:spPr>
          <a:xfrm>
            <a:off x="6675120" y="1389888"/>
            <a:ext cx="489204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Six event families</a:t>
            </a:r>
            <a:endParaRPr lang="en-US" sz="1300" dirty="0"/>
          </a:p>
        </p:txBody>
      </p:sp>
      <p:sp>
        <p:nvSpPr>
          <p:cNvPr id="8" name="Text 5"/>
          <p:cNvSpPr/>
          <p:nvPr/>
        </p:nvSpPr>
        <p:spPr>
          <a:xfrm>
            <a:off x="6675120" y="1682496"/>
            <a:ext cx="4892040" cy="1316736"/>
          </a:xfrm>
          <a:prstGeom prst="rect">
            <a:avLst/>
          </a:prstGeom>
          <a:noFill/>
          <a:ln/>
        </p:spPr>
        <p:txBody>
          <a:bodyPr wrap="square" lIns="0" tIns="0" rIns="0" bIns="0" rtlCol="0" anchor="t"/>
          <a:lstStyle/>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United States:  CPI  ·  Non-Farm Payrolls  ·  FOMC rate decision</a:t>
            </a:r>
            <a:endParaRPr lang="en-US" sz="1150" dirty="0"/>
          </a:p>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Euro area:  CPI flash  ·  Core CPI flash  ·  ECB main refinancing rate</a:t>
            </a:r>
            <a:endParaRPr lang="en-US" sz="1150" dirty="0"/>
          </a:p>
          <a:p>
            <a:pPr marL="0" indent="0">
              <a:lnSpc>
                <a:spcPts val="1400"/>
              </a:lnSpc>
              <a:buNone/>
            </a:pPr>
            <a:endParaRPr lang="en-US" sz="1150" dirty="0"/>
          </a:p>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For each release: actual, forecast, previous.  Surprise = actual minus forecast.</a:t>
            </a:r>
            <a:endParaRPr lang="en-US" sz="1150" dirty="0"/>
          </a:p>
        </p:txBody>
      </p:sp>
      <p:sp>
        <p:nvSpPr>
          <p:cNvPr id="9" name="Text 6"/>
          <p:cNvSpPr/>
          <p:nvPr/>
        </p:nvSpPr>
        <p:spPr>
          <a:xfrm>
            <a:off x="457200" y="3429000"/>
            <a:ext cx="112471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Two data decisions that turned out to matter</a:t>
            </a:r>
            <a:endParaRPr lang="en-US" sz="1500" dirty="0"/>
          </a:p>
        </p:txBody>
      </p:sp>
      <p:sp>
        <p:nvSpPr>
          <p:cNvPr id="10" name="Shape 7"/>
          <p:cNvSpPr/>
          <p:nvPr/>
        </p:nvSpPr>
        <p:spPr>
          <a:xfrm>
            <a:off x="457200" y="3794760"/>
            <a:ext cx="5532120" cy="1463040"/>
          </a:xfrm>
          <a:prstGeom prst="roundRect">
            <a:avLst>
              <a:gd name="adj" fmla="val 3125"/>
            </a:avLst>
          </a:prstGeom>
          <a:solidFill>
            <a:srgbClr val="FFFFFF"/>
          </a:solidFill>
          <a:ln w="12700">
            <a:solidFill>
              <a:srgbClr val="2E6B4F"/>
            </a:solidFill>
            <a:prstDash val="solid"/>
          </a:ln>
        </p:spPr>
        <p:txBody>
          <a:bodyPr/>
          <a:lstStyle/>
          <a:p>
            <a:endParaRPr lang="en-SG"/>
          </a:p>
        </p:txBody>
      </p:sp>
      <p:sp>
        <p:nvSpPr>
          <p:cNvPr id="11" name="Text 8"/>
          <p:cNvSpPr/>
          <p:nvPr/>
        </p:nvSpPr>
        <p:spPr>
          <a:xfrm>
            <a:off x="594360" y="3904488"/>
            <a:ext cx="5257800" cy="256032"/>
          </a:xfrm>
          <a:prstGeom prst="rect">
            <a:avLst/>
          </a:prstGeom>
          <a:noFill/>
          <a:ln/>
        </p:spPr>
        <p:txBody>
          <a:bodyPr wrap="square" lIns="0" tIns="0" rIns="0" bIns="0" rtlCol="0" anchor="ctr"/>
          <a:lstStyle/>
          <a:p>
            <a:pPr marL="0" indent="0">
              <a:buNone/>
            </a:pPr>
            <a:r>
              <a:rPr lang="en-US" sz="1300" b="1" dirty="0">
                <a:solidFill>
                  <a:srgbClr val="2E6B4F"/>
                </a:solidFill>
                <a:latin typeface="Calibri" pitchFamily="34" charset="0"/>
                <a:ea typeface="Calibri" pitchFamily="34" charset="-122"/>
                <a:cs typeface="Calibri" pitchFamily="34" charset="-120"/>
              </a:rPr>
              <a:t>Availability flags</a:t>
            </a:r>
            <a:endParaRPr lang="en-US" sz="1300" dirty="0"/>
          </a:p>
        </p:txBody>
      </p:sp>
      <p:sp>
        <p:nvSpPr>
          <p:cNvPr id="12" name="Text 9"/>
          <p:cNvSpPr/>
          <p:nvPr/>
        </p:nvSpPr>
        <p:spPr>
          <a:xfrm>
            <a:off x="594360" y="4197096"/>
            <a:ext cx="5257800" cy="950976"/>
          </a:xfrm>
          <a:prstGeom prst="rect">
            <a:avLst/>
          </a:prstGeom>
          <a:noFill/>
          <a:ln/>
        </p:spPr>
        <p:txBody>
          <a:bodyPr wrap="square" lIns="0" tIns="0" rIns="0" bIns="0" rtlCol="0" anchor="t"/>
          <a:lstStyle/>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A missing forecast and a genuine zero surprise are not the same thing. Six binary flags mark which is which, so the model can tell "no information" apart from "no surprise".</a:t>
            </a:r>
            <a:endParaRPr lang="en-US" sz="1150" dirty="0"/>
          </a:p>
        </p:txBody>
      </p:sp>
      <p:sp>
        <p:nvSpPr>
          <p:cNvPr id="13" name="Shape 10"/>
          <p:cNvSpPr/>
          <p:nvPr/>
        </p:nvSpPr>
        <p:spPr>
          <a:xfrm>
            <a:off x="6172200" y="3794760"/>
            <a:ext cx="5532120" cy="1463040"/>
          </a:xfrm>
          <a:prstGeom prst="roundRect">
            <a:avLst>
              <a:gd name="adj" fmla="val 3125"/>
            </a:avLst>
          </a:prstGeom>
          <a:solidFill>
            <a:srgbClr val="FFFFFF"/>
          </a:solidFill>
          <a:ln w="12700">
            <a:solidFill>
              <a:srgbClr val="2E6B4F"/>
            </a:solidFill>
            <a:prstDash val="solid"/>
          </a:ln>
        </p:spPr>
        <p:txBody>
          <a:bodyPr/>
          <a:lstStyle/>
          <a:p>
            <a:endParaRPr lang="en-SG"/>
          </a:p>
        </p:txBody>
      </p:sp>
      <p:sp>
        <p:nvSpPr>
          <p:cNvPr id="14" name="Text 11"/>
          <p:cNvSpPr/>
          <p:nvPr/>
        </p:nvSpPr>
        <p:spPr>
          <a:xfrm>
            <a:off x="6309360" y="3904488"/>
            <a:ext cx="5257800" cy="256032"/>
          </a:xfrm>
          <a:prstGeom prst="rect">
            <a:avLst/>
          </a:prstGeom>
          <a:noFill/>
          <a:ln/>
        </p:spPr>
        <p:txBody>
          <a:bodyPr wrap="square" lIns="0" tIns="0" rIns="0" bIns="0" rtlCol="0" anchor="ctr"/>
          <a:lstStyle/>
          <a:p>
            <a:pPr marL="0" indent="0">
              <a:buNone/>
            </a:pPr>
            <a:r>
              <a:rPr lang="en-US" sz="1300" b="1" dirty="0">
                <a:solidFill>
                  <a:srgbClr val="2E6B4F"/>
                </a:solidFill>
                <a:latin typeface="Calibri" pitchFamily="34" charset="0"/>
                <a:ea typeface="Calibri" pitchFamily="34" charset="-122"/>
                <a:cs typeface="Calibri" pitchFamily="34" charset="-120"/>
              </a:rPr>
              <a:t>Prior-only percentile normalisation</a:t>
            </a:r>
            <a:endParaRPr lang="en-US" sz="1300" dirty="0"/>
          </a:p>
        </p:txBody>
      </p:sp>
      <p:sp>
        <p:nvSpPr>
          <p:cNvPr id="15" name="Text 12"/>
          <p:cNvSpPr/>
          <p:nvPr/>
        </p:nvSpPr>
        <p:spPr>
          <a:xfrm>
            <a:off x="6309360" y="4197096"/>
            <a:ext cx="5257800" cy="950976"/>
          </a:xfrm>
          <a:prstGeom prst="rect">
            <a:avLst/>
          </a:prstGeom>
          <a:noFill/>
          <a:ln/>
        </p:spPr>
        <p:txBody>
          <a:bodyPr wrap="square" lIns="0" tIns="0" rIns="0" bIns="0" rtlCol="0" anchor="t"/>
          <a:lstStyle/>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Each surprise is ranked against previous valid releases of that same event only, with a minimum release history. Using the full sample would leak future information backwards.</a:t>
            </a:r>
            <a:endParaRPr lang="en-US" sz="1150" dirty="0"/>
          </a:p>
        </p:txBody>
      </p:sp>
      <p:sp>
        <p:nvSpPr>
          <p:cNvPr id="16" name="Shape 13"/>
          <p:cNvSpPr/>
          <p:nvPr/>
        </p:nvSpPr>
        <p:spPr>
          <a:xfrm>
            <a:off x="457200" y="5532120"/>
            <a:ext cx="11247120" cy="548640"/>
          </a:xfrm>
          <a:prstGeom prst="rect">
            <a:avLst/>
          </a:prstGeom>
          <a:solidFill>
            <a:srgbClr val="EEF2F7"/>
          </a:solidFill>
          <a:ln w="9525">
            <a:solidFill>
              <a:srgbClr val="DCE3EC"/>
            </a:solidFill>
            <a:prstDash val="solid"/>
          </a:ln>
        </p:spPr>
        <p:txBody>
          <a:bodyPr/>
          <a:lstStyle/>
          <a:p>
            <a:endParaRPr lang="en-SG"/>
          </a:p>
        </p:txBody>
      </p:sp>
      <p:sp>
        <p:nvSpPr>
          <p:cNvPr id="17" name="Text 14"/>
          <p:cNvSpPr/>
          <p:nvPr/>
        </p:nvSpPr>
        <p:spPr>
          <a:xfrm>
            <a:off x="713232" y="5669280"/>
            <a:ext cx="10735056" cy="27432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Eighteen years, not the short post-2019 windows typical of comparable applied studies. Longer sample, more regimes, harder test.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r>
              <a:rPr lang="en-SG" sz="1400" dirty="0"/>
              <a:t>Five stages, with hyperparameters frozen before downstream experiments</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457200" y="1234440"/>
            <a:ext cx="11247120" cy="658368"/>
          </a:xfrm>
          <a:prstGeom prst="rect">
            <a:avLst/>
          </a:prstGeom>
          <a:solidFill>
            <a:srgbClr val="EEF2F7"/>
          </a:solidFill>
          <a:ln w="9525">
            <a:solidFill>
              <a:srgbClr val="DCE3EC"/>
            </a:solidFill>
            <a:prstDash val="solid"/>
          </a:ln>
        </p:spPr>
        <p:txBody>
          <a:bodyPr/>
          <a:lstStyle/>
          <a:p>
            <a:endParaRPr lang="en-SG"/>
          </a:p>
        </p:txBody>
      </p:sp>
      <p:sp>
        <p:nvSpPr>
          <p:cNvPr id="6" name="Text 4"/>
          <p:cNvSpPr/>
          <p:nvPr/>
        </p:nvSpPr>
        <p:spPr>
          <a:xfrm>
            <a:off x="685800" y="1435608"/>
            <a:ext cx="1828800" cy="274320"/>
          </a:xfrm>
          <a:prstGeom prst="rect">
            <a:avLst/>
          </a:prstGeom>
          <a:noFill/>
          <a:ln/>
        </p:spPr>
        <p:txBody>
          <a:bodyPr wrap="square" lIns="0" tIns="0" rIns="0" bIns="0" rtlCol="0" anchor="ctr"/>
          <a:lstStyle/>
          <a:p>
            <a:pPr marL="0" indent="0">
              <a:buNone/>
            </a:pPr>
            <a:r>
              <a:rPr lang="en-US" sz="1200" b="1" kern="0" spc="100" dirty="0">
                <a:solidFill>
                  <a:srgbClr val="2E5C8A"/>
                </a:solidFill>
                <a:latin typeface="Calibri" pitchFamily="34" charset="0"/>
                <a:ea typeface="Calibri" pitchFamily="34" charset="-122"/>
                <a:cs typeface="Calibri" pitchFamily="34" charset="-120"/>
              </a:rPr>
              <a:t>1. DATA</a:t>
            </a:r>
            <a:endParaRPr lang="en-US" sz="1200" dirty="0"/>
          </a:p>
        </p:txBody>
      </p:sp>
      <p:sp>
        <p:nvSpPr>
          <p:cNvPr id="7" name="Text 5"/>
          <p:cNvSpPr/>
          <p:nvPr/>
        </p:nvSpPr>
        <p:spPr>
          <a:xfrm>
            <a:off x="2560320" y="1417320"/>
            <a:ext cx="8961120" cy="32004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Scrape events, align with prices, compute surprises</a:t>
            </a:r>
            <a:endParaRPr lang="en-US" sz="1250" dirty="0"/>
          </a:p>
        </p:txBody>
      </p:sp>
      <p:sp>
        <p:nvSpPr>
          <p:cNvPr id="8" name="Shape 6"/>
          <p:cNvSpPr/>
          <p:nvPr/>
        </p:nvSpPr>
        <p:spPr>
          <a:xfrm>
            <a:off x="457200" y="2020824"/>
            <a:ext cx="11247120" cy="658368"/>
          </a:xfrm>
          <a:prstGeom prst="rect">
            <a:avLst/>
          </a:prstGeom>
          <a:solidFill>
            <a:srgbClr val="EEF2F7"/>
          </a:solidFill>
          <a:ln w="9525">
            <a:solidFill>
              <a:srgbClr val="DCE3EC"/>
            </a:solidFill>
            <a:prstDash val="solid"/>
          </a:ln>
        </p:spPr>
        <p:txBody>
          <a:bodyPr/>
          <a:lstStyle/>
          <a:p>
            <a:endParaRPr lang="en-SG"/>
          </a:p>
        </p:txBody>
      </p:sp>
      <p:sp>
        <p:nvSpPr>
          <p:cNvPr id="9" name="Text 7"/>
          <p:cNvSpPr/>
          <p:nvPr/>
        </p:nvSpPr>
        <p:spPr>
          <a:xfrm>
            <a:off x="685800" y="2221992"/>
            <a:ext cx="1828800" cy="274320"/>
          </a:xfrm>
          <a:prstGeom prst="rect">
            <a:avLst/>
          </a:prstGeom>
          <a:noFill/>
          <a:ln/>
        </p:spPr>
        <p:txBody>
          <a:bodyPr wrap="square" lIns="0" tIns="0" rIns="0" bIns="0" rtlCol="0" anchor="ctr"/>
          <a:lstStyle/>
          <a:p>
            <a:pPr marL="0" indent="0">
              <a:buNone/>
            </a:pPr>
            <a:r>
              <a:rPr lang="en-US" sz="1200" b="1" kern="0" spc="100" dirty="0">
                <a:solidFill>
                  <a:srgbClr val="2E5C8A"/>
                </a:solidFill>
                <a:latin typeface="Calibri" pitchFamily="34" charset="0"/>
                <a:ea typeface="Calibri" pitchFamily="34" charset="-122"/>
                <a:cs typeface="Calibri" pitchFamily="34" charset="-120"/>
              </a:rPr>
              <a:t>2. FEATURES</a:t>
            </a:r>
            <a:endParaRPr lang="en-US" sz="1200" dirty="0"/>
          </a:p>
        </p:txBody>
      </p:sp>
      <p:sp>
        <p:nvSpPr>
          <p:cNvPr id="10" name="Text 8"/>
          <p:cNvSpPr/>
          <p:nvPr/>
        </p:nvSpPr>
        <p:spPr>
          <a:xfrm>
            <a:off x="2560320" y="2203704"/>
            <a:ext cx="8961120" cy="32004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48 features: surprise, availability, timing, momentum, volatility, regime, technical</a:t>
            </a:r>
            <a:endParaRPr lang="en-US" sz="1250" dirty="0"/>
          </a:p>
        </p:txBody>
      </p:sp>
      <p:sp>
        <p:nvSpPr>
          <p:cNvPr id="11" name="Shape 9"/>
          <p:cNvSpPr/>
          <p:nvPr/>
        </p:nvSpPr>
        <p:spPr>
          <a:xfrm>
            <a:off x="457200" y="2807208"/>
            <a:ext cx="11247120" cy="658368"/>
          </a:xfrm>
          <a:prstGeom prst="rect">
            <a:avLst/>
          </a:prstGeom>
          <a:solidFill>
            <a:srgbClr val="EAF1EA"/>
          </a:solidFill>
          <a:ln w="19050">
            <a:solidFill>
              <a:srgbClr val="2E6B4F"/>
            </a:solidFill>
            <a:prstDash val="solid"/>
          </a:ln>
        </p:spPr>
        <p:txBody>
          <a:bodyPr/>
          <a:lstStyle/>
          <a:p>
            <a:endParaRPr lang="en-SG"/>
          </a:p>
        </p:txBody>
      </p:sp>
      <p:sp>
        <p:nvSpPr>
          <p:cNvPr id="12" name="Text 10"/>
          <p:cNvSpPr/>
          <p:nvPr/>
        </p:nvSpPr>
        <p:spPr>
          <a:xfrm>
            <a:off x="685800" y="3008376"/>
            <a:ext cx="1828800" cy="274320"/>
          </a:xfrm>
          <a:prstGeom prst="rect">
            <a:avLst/>
          </a:prstGeom>
          <a:noFill/>
          <a:ln/>
        </p:spPr>
        <p:txBody>
          <a:bodyPr wrap="square" lIns="0" tIns="0" rIns="0" bIns="0" rtlCol="0" anchor="ctr"/>
          <a:lstStyle/>
          <a:p>
            <a:pPr marL="0" indent="0">
              <a:buNone/>
            </a:pPr>
            <a:r>
              <a:rPr lang="en-US" sz="1200" b="1" kern="0" spc="100" dirty="0">
                <a:solidFill>
                  <a:srgbClr val="2E6B4F"/>
                </a:solidFill>
                <a:latin typeface="Calibri" pitchFamily="34" charset="0"/>
                <a:ea typeface="Calibri" pitchFamily="34" charset="-122"/>
                <a:cs typeface="Calibri" pitchFamily="34" charset="-120"/>
              </a:rPr>
              <a:t>3. TUNING</a:t>
            </a:r>
            <a:endParaRPr lang="en-US" sz="1200" dirty="0"/>
          </a:p>
        </p:txBody>
      </p:sp>
      <p:sp>
        <p:nvSpPr>
          <p:cNvPr id="13" name="Text 11"/>
          <p:cNvSpPr/>
          <p:nvPr/>
        </p:nvSpPr>
        <p:spPr>
          <a:xfrm>
            <a:off x="2560320" y="2990088"/>
            <a:ext cx="8961120" cy="32004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Grid search on training data only, then parameters frozen</a:t>
            </a:r>
            <a:endParaRPr lang="en-US" sz="1250" dirty="0"/>
          </a:p>
        </p:txBody>
      </p:sp>
      <p:sp>
        <p:nvSpPr>
          <p:cNvPr id="14" name="Shape 12"/>
          <p:cNvSpPr/>
          <p:nvPr/>
        </p:nvSpPr>
        <p:spPr>
          <a:xfrm>
            <a:off x="457200" y="3593592"/>
            <a:ext cx="11247120" cy="658368"/>
          </a:xfrm>
          <a:prstGeom prst="rect">
            <a:avLst/>
          </a:prstGeom>
          <a:solidFill>
            <a:srgbClr val="EEF2F7"/>
          </a:solidFill>
          <a:ln w="9525">
            <a:solidFill>
              <a:srgbClr val="DCE3EC"/>
            </a:solidFill>
            <a:prstDash val="solid"/>
          </a:ln>
        </p:spPr>
        <p:txBody>
          <a:bodyPr/>
          <a:lstStyle/>
          <a:p>
            <a:endParaRPr lang="en-SG"/>
          </a:p>
        </p:txBody>
      </p:sp>
      <p:sp>
        <p:nvSpPr>
          <p:cNvPr id="15" name="Text 13"/>
          <p:cNvSpPr/>
          <p:nvPr/>
        </p:nvSpPr>
        <p:spPr>
          <a:xfrm>
            <a:off x="685800" y="3794760"/>
            <a:ext cx="1828800" cy="274320"/>
          </a:xfrm>
          <a:prstGeom prst="rect">
            <a:avLst/>
          </a:prstGeom>
          <a:noFill/>
          <a:ln/>
        </p:spPr>
        <p:txBody>
          <a:bodyPr wrap="square" lIns="0" tIns="0" rIns="0" bIns="0" rtlCol="0" anchor="ctr"/>
          <a:lstStyle/>
          <a:p>
            <a:pPr marL="0" indent="0">
              <a:buNone/>
            </a:pPr>
            <a:r>
              <a:rPr lang="en-US" sz="1200" b="1" kern="0" spc="100" dirty="0">
                <a:solidFill>
                  <a:srgbClr val="2E5C8A"/>
                </a:solidFill>
                <a:latin typeface="Calibri" pitchFamily="34" charset="0"/>
                <a:ea typeface="Calibri" pitchFamily="34" charset="-122"/>
                <a:cs typeface="Calibri" pitchFamily="34" charset="-120"/>
              </a:rPr>
              <a:t>4. EVALUATION</a:t>
            </a:r>
            <a:endParaRPr lang="en-US" sz="1200" dirty="0"/>
          </a:p>
        </p:txBody>
      </p:sp>
      <p:sp>
        <p:nvSpPr>
          <p:cNvPr id="16" name="Text 14"/>
          <p:cNvSpPr/>
          <p:nvPr/>
        </p:nvSpPr>
        <p:spPr>
          <a:xfrm>
            <a:off x="2560320" y="3776472"/>
            <a:ext cx="8961120" cy="32004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Six documented experiments, then the main performance study</a:t>
            </a:r>
            <a:endParaRPr lang="en-US" sz="1250" dirty="0"/>
          </a:p>
        </p:txBody>
      </p:sp>
      <p:sp>
        <p:nvSpPr>
          <p:cNvPr id="17" name="Shape 15"/>
          <p:cNvSpPr/>
          <p:nvPr/>
        </p:nvSpPr>
        <p:spPr>
          <a:xfrm>
            <a:off x="457200" y="4379976"/>
            <a:ext cx="11247120" cy="658368"/>
          </a:xfrm>
          <a:prstGeom prst="rect">
            <a:avLst/>
          </a:prstGeom>
          <a:solidFill>
            <a:srgbClr val="EEF2F7"/>
          </a:solidFill>
          <a:ln w="9525">
            <a:solidFill>
              <a:srgbClr val="DCE3EC"/>
            </a:solidFill>
            <a:prstDash val="solid"/>
          </a:ln>
        </p:spPr>
        <p:txBody>
          <a:bodyPr/>
          <a:lstStyle/>
          <a:p>
            <a:endParaRPr lang="en-SG"/>
          </a:p>
        </p:txBody>
      </p:sp>
      <p:sp>
        <p:nvSpPr>
          <p:cNvPr id="18" name="Text 16"/>
          <p:cNvSpPr/>
          <p:nvPr/>
        </p:nvSpPr>
        <p:spPr>
          <a:xfrm>
            <a:off x="685800" y="4581144"/>
            <a:ext cx="1828800" cy="274320"/>
          </a:xfrm>
          <a:prstGeom prst="rect">
            <a:avLst/>
          </a:prstGeom>
          <a:noFill/>
          <a:ln/>
        </p:spPr>
        <p:txBody>
          <a:bodyPr wrap="square" lIns="0" tIns="0" rIns="0" bIns="0" rtlCol="0" anchor="ctr"/>
          <a:lstStyle/>
          <a:p>
            <a:pPr marL="0" indent="0">
              <a:buNone/>
            </a:pPr>
            <a:r>
              <a:rPr lang="en-US" sz="1200" b="1" kern="0" spc="100" dirty="0">
                <a:solidFill>
                  <a:srgbClr val="2E5C8A"/>
                </a:solidFill>
                <a:latin typeface="Calibri" pitchFamily="34" charset="0"/>
                <a:ea typeface="Calibri" pitchFamily="34" charset="-122"/>
                <a:cs typeface="Calibri" pitchFamily="34" charset="-120"/>
              </a:rPr>
              <a:t>5. OUTPUTS</a:t>
            </a:r>
            <a:endParaRPr lang="en-US" sz="1200" dirty="0"/>
          </a:p>
        </p:txBody>
      </p:sp>
      <p:sp>
        <p:nvSpPr>
          <p:cNvPr id="19" name="Text 17"/>
          <p:cNvSpPr/>
          <p:nvPr/>
        </p:nvSpPr>
        <p:spPr>
          <a:xfrm>
            <a:off x="2560320" y="4562856"/>
            <a:ext cx="8961120" cy="32004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AUC, trading performance, interpretability, deployment</a:t>
            </a:r>
            <a:endParaRPr lang="en-US" sz="1250" dirty="0"/>
          </a:p>
        </p:txBody>
      </p:sp>
      <p:sp>
        <p:nvSpPr>
          <p:cNvPr id="20" name="Shape 18"/>
          <p:cNvSpPr/>
          <p:nvPr/>
        </p:nvSpPr>
        <p:spPr>
          <a:xfrm>
            <a:off x="457200" y="5303520"/>
            <a:ext cx="11247120" cy="777240"/>
          </a:xfrm>
          <a:prstGeom prst="rect">
            <a:avLst/>
          </a:prstGeom>
          <a:solidFill>
            <a:srgbClr val="EEF2F7"/>
          </a:solidFill>
          <a:ln w="9525">
            <a:solidFill>
              <a:srgbClr val="DCE3EC"/>
            </a:solidFill>
            <a:prstDash val="solid"/>
          </a:ln>
        </p:spPr>
        <p:txBody>
          <a:bodyPr/>
          <a:lstStyle/>
          <a:p>
            <a:endParaRPr lang="en-SG"/>
          </a:p>
        </p:txBody>
      </p:sp>
      <p:sp>
        <p:nvSpPr>
          <p:cNvPr id="21" name="Text 19"/>
          <p:cNvSpPr/>
          <p:nvPr/>
        </p:nvSpPr>
        <p:spPr>
          <a:xfrm>
            <a:off x="713232" y="5440680"/>
            <a:ext cx="10735056" cy="502920"/>
          </a:xfrm>
          <a:prstGeom prst="rect">
            <a:avLst/>
          </a:prstGeom>
          <a:noFill/>
          <a:ln/>
        </p:spPr>
        <p:txBody>
          <a:bodyPr wrap="square" lIns="0" tIns="0" rIns="0" bIns="0" rtlCol="0" anchor="ctr"/>
          <a:lstStyle/>
          <a:p>
            <a:pPr marL="0" indent="0">
              <a:buNone/>
            </a:pPr>
            <a:r>
              <a:rPr lang="en-US" sz="1350" b="1" dirty="0">
                <a:solidFill>
                  <a:srgbClr val="1F3864"/>
                </a:solidFill>
                <a:latin typeface="Calibri" pitchFamily="34" charset="0"/>
                <a:ea typeface="Calibri" pitchFamily="34" charset="-122"/>
                <a:cs typeface="Calibri" pitchFamily="34" charset="-120"/>
              </a:rPr>
              <a:t>Nothing downstream of stage 3 re-tunes anything. Every later comparison changes exactly one factor, which is what makes the sequence interpretable.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Three Leakage Corrections</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Errors I found in my own pipeline and fixed</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457200" y="1234440"/>
            <a:ext cx="11247120" cy="1115568"/>
          </a:xfrm>
          <a:prstGeom prst="rect">
            <a:avLst/>
          </a:prstGeom>
          <a:solidFill>
            <a:srgbClr val="F2F2F2"/>
          </a:solidFill>
          <a:ln w="9525">
            <a:solidFill>
              <a:srgbClr val="B4B4B4"/>
            </a:solidFill>
            <a:prstDash val="solid"/>
          </a:ln>
        </p:spPr>
        <p:txBody>
          <a:bodyPr/>
          <a:lstStyle/>
          <a:p>
            <a:endParaRPr lang="en-SG"/>
          </a:p>
        </p:txBody>
      </p:sp>
      <p:sp>
        <p:nvSpPr>
          <p:cNvPr id="6" name="Shape 4"/>
          <p:cNvSpPr/>
          <p:nvPr/>
        </p:nvSpPr>
        <p:spPr>
          <a:xfrm>
            <a:off x="685800" y="1554480"/>
            <a:ext cx="457200" cy="457200"/>
          </a:xfrm>
          <a:prstGeom prst="ellipse">
            <a:avLst/>
          </a:prstGeom>
          <a:solidFill>
            <a:srgbClr val="B02418"/>
          </a:solidFill>
          <a:ln w="12700">
            <a:solidFill>
              <a:srgbClr val="B02418"/>
            </a:solidFill>
            <a:prstDash val="solid"/>
          </a:ln>
        </p:spPr>
        <p:txBody>
          <a:bodyPr/>
          <a:lstStyle/>
          <a:p>
            <a:endParaRPr lang="en-SG"/>
          </a:p>
        </p:txBody>
      </p:sp>
      <p:sp>
        <p:nvSpPr>
          <p:cNvPr id="7" name="Text 5"/>
          <p:cNvSpPr/>
          <p:nvPr/>
        </p:nvSpPr>
        <p:spPr>
          <a:xfrm>
            <a:off x="685800" y="1627632"/>
            <a:ext cx="457200"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325880" y="1380744"/>
            <a:ext cx="292608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Selection leakage</a:t>
            </a:r>
            <a:endParaRPr lang="en-US" sz="1400" dirty="0"/>
          </a:p>
        </p:txBody>
      </p:sp>
      <p:sp>
        <p:nvSpPr>
          <p:cNvPr id="9" name="Text 7"/>
          <p:cNvSpPr/>
          <p:nvPr/>
        </p:nvSpPr>
        <p:spPr>
          <a:xfrm>
            <a:off x="1325880" y="1691640"/>
            <a:ext cx="10149840" cy="566928"/>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The original run chose the model on test-set AUC. That is choosing the winner after seeing the answer. Model selection moved to training-only cross-validation.</a:t>
            </a:r>
            <a:endParaRPr lang="en-US" sz="1200" dirty="0"/>
          </a:p>
        </p:txBody>
      </p:sp>
      <p:sp>
        <p:nvSpPr>
          <p:cNvPr id="10" name="Shape 8"/>
          <p:cNvSpPr/>
          <p:nvPr/>
        </p:nvSpPr>
        <p:spPr>
          <a:xfrm>
            <a:off x="457200" y="2532888"/>
            <a:ext cx="11247120" cy="1115568"/>
          </a:xfrm>
          <a:prstGeom prst="rect">
            <a:avLst/>
          </a:prstGeom>
          <a:solidFill>
            <a:srgbClr val="F2F2F2"/>
          </a:solidFill>
          <a:ln w="9525">
            <a:solidFill>
              <a:srgbClr val="B4B4B4"/>
            </a:solidFill>
            <a:prstDash val="solid"/>
          </a:ln>
        </p:spPr>
        <p:txBody>
          <a:bodyPr/>
          <a:lstStyle/>
          <a:p>
            <a:endParaRPr lang="en-SG"/>
          </a:p>
        </p:txBody>
      </p:sp>
      <p:sp>
        <p:nvSpPr>
          <p:cNvPr id="11" name="Shape 9"/>
          <p:cNvSpPr/>
          <p:nvPr/>
        </p:nvSpPr>
        <p:spPr>
          <a:xfrm>
            <a:off x="685800" y="2852928"/>
            <a:ext cx="457200" cy="457200"/>
          </a:xfrm>
          <a:prstGeom prst="ellipse">
            <a:avLst/>
          </a:prstGeom>
          <a:solidFill>
            <a:srgbClr val="B02418"/>
          </a:solidFill>
          <a:ln w="12700">
            <a:solidFill>
              <a:srgbClr val="B02418"/>
            </a:solidFill>
            <a:prstDash val="solid"/>
          </a:ln>
        </p:spPr>
        <p:txBody>
          <a:bodyPr/>
          <a:lstStyle/>
          <a:p>
            <a:endParaRPr lang="en-SG"/>
          </a:p>
        </p:txBody>
      </p:sp>
      <p:sp>
        <p:nvSpPr>
          <p:cNvPr id="12" name="Text 10"/>
          <p:cNvSpPr/>
          <p:nvPr/>
        </p:nvSpPr>
        <p:spPr>
          <a:xfrm>
            <a:off x="685800" y="2926080"/>
            <a:ext cx="457200"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325880" y="2679192"/>
            <a:ext cx="292608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Scaling and tuning leakage</a:t>
            </a:r>
            <a:endParaRPr lang="en-US" sz="1400" dirty="0"/>
          </a:p>
        </p:txBody>
      </p:sp>
      <p:sp>
        <p:nvSpPr>
          <p:cNvPr id="14" name="Text 12"/>
          <p:cNvSpPr/>
          <p:nvPr/>
        </p:nvSpPr>
        <p:spPr>
          <a:xfrm>
            <a:off x="1325880" y="2990088"/>
            <a:ext cx="10149840" cy="566928"/>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The scaler was fitted on the full sample before splitting, and tuning saw validation rows. Scaling moved inside the pipeline, fitted per fold, with a purge gap at every boundary.</a:t>
            </a:r>
            <a:endParaRPr lang="en-US" sz="1200" dirty="0"/>
          </a:p>
        </p:txBody>
      </p:sp>
      <p:sp>
        <p:nvSpPr>
          <p:cNvPr id="15" name="Shape 13"/>
          <p:cNvSpPr/>
          <p:nvPr/>
        </p:nvSpPr>
        <p:spPr>
          <a:xfrm>
            <a:off x="457200" y="3831336"/>
            <a:ext cx="11247120" cy="1115568"/>
          </a:xfrm>
          <a:prstGeom prst="rect">
            <a:avLst/>
          </a:prstGeom>
          <a:solidFill>
            <a:srgbClr val="F2F2F2"/>
          </a:solidFill>
          <a:ln w="9525">
            <a:solidFill>
              <a:srgbClr val="B4B4B4"/>
            </a:solidFill>
            <a:prstDash val="solid"/>
          </a:ln>
        </p:spPr>
        <p:txBody>
          <a:bodyPr/>
          <a:lstStyle/>
          <a:p>
            <a:endParaRPr lang="en-SG"/>
          </a:p>
        </p:txBody>
      </p:sp>
      <p:sp>
        <p:nvSpPr>
          <p:cNvPr id="16" name="Shape 14"/>
          <p:cNvSpPr/>
          <p:nvPr/>
        </p:nvSpPr>
        <p:spPr>
          <a:xfrm>
            <a:off x="685800" y="4151376"/>
            <a:ext cx="457200" cy="457200"/>
          </a:xfrm>
          <a:prstGeom prst="ellipse">
            <a:avLst/>
          </a:prstGeom>
          <a:solidFill>
            <a:srgbClr val="B02418"/>
          </a:solidFill>
          <a:ln w="12700">
            <a:solidFill>
              <a:srgbClr val="B02418"/>
            </a:solidFill>
            <a:prstDash val="solid"/>
          </a:ln>
        </p:spPr>
        <p:txBody>
          <a:bodyPr/>
          <a:lstStyle/>
          <a:p>
            <a:endParaRPr lang="en-SG"/>
          </a:p>
        </p:txBody>
      </p:sp>
      <p:sp>
        <p:nvSpPr>
          <p:cNvPr id="17" name="Text 15"/>
          <p:cNvSpPr/>
          <p:nvPr/>
        </p:nvSpPr>
        <p:spPr>
          <a:xfrm>
            <a:off x="685800" y="4224528"/>
            <a:ext cx="457200"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325880" y="3977640"/>
            <a:ext cx="292608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Backtest accounting</a:t>
            </a:r>
            <a:endParaRPr lang="en-US" sz="1400" dirty="0"/>
          </a:p>
        </p:txBody>
      </p:sp>
      <p:sp>
        <p:nvSpPr>
          <p:cNvPr id="19" name="Text 17"/>
          <p:cNvSpPr/>
          <p:nvPr/>
        </p:nvSpPr>
        <p:spPr>
          <a:xfrm>
            <a:off x="1325880" y="4288536"/>
            <a:ext cx="10149840" cy="566928"/>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Returns were applied on the same day as the signal. Positions now apply to the following day’s return, with transaction costs charged only when the position changes.</a:t>
            </a:r>
            <a:endParaRPr lang="en-US" sz="1200" dirty="0"/>
          </a:p>
        </p:txBody>
      </p:sp>
      <p:sp>
        <p:nvSpPr>
          <p:cNvPr id="20" name="Shape 18"/>
          <p:cNvSpPr/>
          <p:nvPr/>
        </p:nvSpPr>
        <p:spPr>
          <a:xfrm>
            <a:off x="457200" y="5257800"/>
            <a:ext cx="11247120" cy="777240"/>
          </a:xfrm>
          <a:prstGeom prst="rect">
            <a:avLst/>
          </a:prstGeom>
          <a:solidFill>
            <a:srgbClr val="EEF2F7"/>
          </a:solidFill>
          <a:ln w="9525">
            <a:solidFill>
              <a:srgbClr val="DCE3EC"/>
            </a:solidFill>
            <a:prstDash val="solid"/>
          </a:ln>
        </p:spPr>
        <p:txBody>
          <a:bodyPr/>
          <a:lstStyle/>
          <a:p>
            <a:endParaRPr lang="en-SG"/>
          </a:p>
        </p:txBody>
      </p:sp>
      <p:sp>
        <p:nvSpPr>
          <p:cNvPr id="21" name="Text 19"/>
          <p:cNvSpPr/>
          <p:nvPr/>
        </p:nvSpPr>
        <p:spPr>
          <a:xfrm>
            <a:off x="713232" y="5394960"/>
            <a:ext cx="10735056" cy="502920"/>
          </a:xfrm>
          <a:prstGeom prst="rect">
            <a:avLst/>
          </a:prstGeom>
          <a:noFill/>
          <a:ln/>
        </p:spPr>
        <p:txBody>
          <a:bodyPr wrap="square" lIns="0" tIns="0" rIns="0" bIns="0" rtlCol="0" anchor="ctr"/>
          <a:lstStyle/>
          <a:p>
            <a:pPr marL="0" indent="0">
              <a:buNone/>
            </a:pPr>
            <a:r>
              <a:rPr lang="en-US" sz="1350" b="1" dirty="0">
                <a:solidFill>
                  <a:srgbClr val="1F3864"/>
                </a:solidFill>
                <a:latin typeface="Calibri" pitchFamily="34" charset="0"/>
                <a:ea typeface="Calibri" pitchFamily="34" charset="-122"/>
                <a:cs typeface="Calibri" pitchFamily="34" charset="-120"/>
              </a:rPr>
              <a:t>All three were found by auditing my own work, and all three lowered the reported numbers. That is the direction an honest correction moves in.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Experimental Sequence</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Six runs, each varying one factor, reusing the frozen parameters</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2295866681"/>
              </p:ext>
            </p:extLst>
          </p:nvPr>
        </p:nvGraphicFramePr>
        <p:xfrm>
          <a:off x="457200" y="1234440"/>
          <a:ext cx="11247120" cy="3803904"/>
        </p:xfrm>
        <a:graphic>
          <a:graphicData uri="http://schemas.openxmlformats.org/drawingml/2006/table">
            <a:tbl>
              <a:tblPr/>
              <a:tblGrid>
                <a:gridCol w="9144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6126480">
                  <a:extLst>
                    <a:ext uri="{9D8B030D-6E8A-4147-A177-3AD203B41FA5}">
                      <a16:colId xmlns:a16="http://schemas.microsoft.com/office/drawing/2014/main" val="20002"/>
                    </a:ext>
                  </a:extLst>
                </a:gridCol>
              </a:tblGrid>
              <a:tr h="475488">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Run</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buNone/>
                      </a:pPr>
                      <a:r>
                        <a:rPr lang="en-US" sz="1100" b="1" dirty="0">
                          <a:solidFill>
                            <a:srgbClr val="1A1A1A"/>
                          </a:solidFill>
                          <a:latin typeface="Calibri" pitchFamily="34" charset="0"/>
                          <a:ea typeface="Calibri" pitchFamily="34" charset="-122"/>
                          <a:cs typeface="Calibri" pitchFamily="34" charset="-120"/>
                        </a:rPr>
                        <a:t>Factor varied</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buNone/>
                      </a:pPr>
                      <a:r>
                        <a:rPr lang="en-US" sz="1100" b="1" dirty="0">
                          <a:solidFill>
                            <a:srgbClr val="1A1A1A"/>
                          </a:solidFill>
                          <a:latin typeface="Calibri" pitchFamily="34" charset="0"/>
                          <a:ea typeface="Calibri" pitchFamily="34" charset="-122"/>
                          <a:cs typeface="Calibri" pitchFamily="34" charset="-120"/>
                        </a:rPr>
                        <a:t>Outcome</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475488">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Sample extended from 2019 to 2007</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Baseline. Model was selected on test AUC, later identified as a leak and corrected</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Event-data correction, availability encoding, selection moved to training CV</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Logistic Regression selected on training evidence</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Technical-only, event-only and hybrid feature sets across three models</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SG" sz="1100" dirty="0"/>
                        <a:t>Hybrid strongest for all three models; the Random Forest hybrid advantage was statistically significant.</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Event-feature refinement: signed-log, directional, rate-policy encodings</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Controlled negative result. Baseline encoding retained</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Expanding, five-year and ten-year rolling training windows</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Ten-year rolling adopted. Advantage consistent but not significant</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Final leakage-safe evaluation: purge gap, validation-only thresholds, costs</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Reported as the single-configuration result</a:t>
                      </a: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lgn="ctr">
                        <a:buNone/>
                      </a:pPr>
                      <a:r>
                        <a:rPr lang="en-US" sz="1100" dirty="0">
                          <a:latin typeface="Calibri" charset="0"/>
                          <a:ea typeface="Calibri" charset="0"/>
                          <a:cs typeface="Calibri" charset="0"/>
                        </a:rPr>
                        <a:t>7</a:t>
                      </a: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502233056"/>
                  </a:ext>
                </a:extLst>
              </a:tr>
            </a:tbl>
          </a:graphicData>
        </a:graphic>
      </p:graphicFrame>
      <p:sp>
        <p:nvSpPr>
          <p:cNvPr id="6" name="Shape 3"/>
          <p:cNvSpPr/>
          <p:nvPr/>
        </p:nvSpPr>
        <p:spPr>
          <a:xfrm>
            <a:off x="457200" y="5029200"/>
            <a:ext cx="11247120" cy="960120"/>
          </a:xfrm>
          <a:prstGeom prst="rect">
            <a:avLst/>
          </a:prstGeom>
          <a:solidFill>
            <a:srgbClr val="EEF2F7"/>
          </a:solidFill>
          <a:ln w="9525">
            <a:solidFill>
              <a:srgbClr val="DCE3EC"/>
            </a:solidFill>
            <a:prstDash val="solid"/>
          </a:ln>
        </p:spPr>
        <p:txBody>
          <a:bodyPr/>
          <a:lstStyle/>
          <a:p>
            <a:endParaRPr lang="en-SG"/>
          </a:p>
        </p:txBody>
      </p:sp>
      <p:sp>
        <p:nvSpPr>
          <p:cNvPr id="5" name="Text 4"/>
          <p:cNvSpPr/>
          <p:nvPr/>
        </p:nvSpPr>
        <p:spPr>
          <a:xfrm>
            <a:off x="713232" y="5166360"/>
            <a:ext cx="10735056" cy="685800"/>
          </a:xfrm>
          <a:prstGeom prst="rect">
            <a:avLst/>
          </a:prstGeom>
          <a:noFill/>
          <a:ln/>
        </p:spPr>
        <p:txBody>
          <a:bodyPr wrap="square" lIns="0" tIns="0" rIns="0" bIns="0" rtlCol="0" anchor="ctr"/>
          <a:lstStyle/>
          <a:p>
            <a:pPr marL="0" indent="0">
              <a:buNone/>
            </a:pPr>
            <a:r>
              <a:rPr lang="en-US" sz="1350" b="1" dirty="0">
                <a:solidFill>
                  <a:srgbClr val="1F3864"/>
                </a:solidFill>
                <a:latin typeface="Calibri" pitchFamily="34" charset="0"/>
                <a:ea typeface="Calibri" pitchFamily="34" charset="-122"/>
                <a:cs typeface="Calibri" pitchFamily="34" charset="-120"/>
              </a:rPr>
              <a:t>Runs 4 and 5 are reported exactly as they came out. Run 4 found no improvement and Run 5’s advantage was not statistically significant. Both are in the report with their p-values.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Do Event Features Actually Help?</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Group-level ablation across 65 common walk-forward folds</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858000" cy="1609344"/>
        </p:xfrm>
        <a:graphic>
          <a:graphicData uri="http://schemas.openxmlformats.org/drawingml/2006/table">
            <a:tbl>
              <a:tblPr/>
              <a:tblGrid>
                <a:gridCol w="30175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02336">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Configuration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LR</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RF</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XGB</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Technical only  (events ablated)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0.5115</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0.5123</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0.4956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Event only  (market context ablated)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0.5105</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0.5064</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0.5055</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Hybrid  (nothing ablated)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0.5215</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0.5298</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0.5130</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7543800" y="1280160"/>
            <a:ext cx="4160520" cy="1691640"/>
          </a:xfrm>
          <a:prstGeom prst="roundRect">
            <a:avLst>
              <a:gd name="adj" fmla="val 2703"/>
            </a:avLst>
          </a:prstGeom>
          <a:solidFill>
            <a:srgbClr val="FFFFFF"/>
          </a:solidFill>
          <a:ln w="12700">
            <a:solidFill>
              <a:srgbClr val="2E5C8A"/>
            </a:solidFill>
            <a:prstDash val="solid"/>
          </a:ln>
        </p:spPr>
        <p:txBody>
          <a:bodyPr/>
          <a:lstStyle/>
          <a:p>
            <a:endParaRPr lang="en-SG"/>
          </a:p>
        </p:txBody>
      </p:sp>
      <p:sp>
        <p:nvSpPr>
          <p:cNvPr id="7" name="Text 4"/>
          <p:cNvSpPr/>
          <p:nvPr/>
        </p:nvSpPr>
        <p:spPr>
          <a:xfrm>
            <a:off x="7680960" y="1389888"/>
            <a:ext cx="388620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Read down the columns</a:t>
            </a:r>
            <a:endParaRPr lang="en-US" sz="1300" dirty="0"/>
          </a:p>
        </p:txBody>
      </p:sp>
      <p:sp>
        <p:nvSpPr>
          <p:cNvPr id="5" name="Text 5"/>
          <p:cNvSpPr/>
          <p:nvPr/>
        </p:nvSpPr>
        <p:spPr>
          <a:xfrm>
            <a:off x="7680960" y="1682496"/>
            <a:ext cx="3886200" cy="1179576"/>
          </a:xfrm>
          <a:prstGeom prst="rect">
            <a:avLst/>
          </a:prstGeom>
          <a:noFill/>
          <a:ln/>
        </p:spPr>
        <p:txBody>
          <a:bodyPr wrap="square" lIns="0" tIns="0" rIns="0" bIns="0" rtlCol="0" anchor="t"/>
          <a:lstStyle/>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The hybrid set is strongest for all three model families.</a:t>
            </a:r>
            <a:endParaRPr lang="en-US" sz="1150" dirty="0"/>
          </a:p>
          <a:p>
            <a:pPr marL="0" indent="0">
              <a:lnSpc>
                <a:spcPts val="1400"/>
              </a:lnSpc>
              <a:buNone/>
            </a:pPr>
            <a:endParaRPr lang="en-US" sz="1150" dirty="0"/>
          </a:p>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The result is about feature sets, not about which model wins.</a:t>
            </a:r>
            <a:endParaRPr lang="en-US" sz="1150" dirty="0"/>
          </a:p>
        </p:txBody>
      </p:sp>
      <p:sp>
        <p:nvSpPr>
          <p:cNvPr id="9" name="Text 6"/>
          <p:cNvSpPr/>
          <p:nvPr/>
        </p:nvSpPr>
        <p:spPr>
          <a:xfrm>
            <a:off x="457200" y="3246120"/>
            <a:ext cx="112471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Paired significance tests, same 65 folds</a:t>
            </a:r>
            <a:endParaRPr lang="en-US" sz="15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57200" y="3611880"/>
          <a:ext cx="11247120" cy="1207008"/>
        </p:xfrm>
        <a:graphic>
          <a:graphicData uri="http://schemas.openxmlformats.org/drawingml/2006/table">
            <a:tbl>
              <a:tblPr/>
              <a:tblGrid>
                <a:gridCol w="32918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tblGrid>
              <a:tr h="402336">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Ablation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AUC lost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p (two-sided)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Hybrid higher in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Event features removed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-0.0176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2.979</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0.0041</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44 / 65 folds</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Market context removed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-0.0235</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2.429</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0.0180</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40 / 65 folds</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Shape 7"/>
          <p:cNvSpPr/>
          <p:nvPr/>
        </p:nvSpPr>
        <p:spPr>
          <a:xfrm>
            <a:off x="457200" y="5074920"/>
            <a:ext cx="11247120" cy="960120"/>
          </a:xfrm>
          <a:prstGeom prst="rect">
            <a:avLst/>
          </a:prstGeom>
          <a:solidFill>
            <a:srgbClr val="EEF2F7"/>
          </a:solidFill>
          <a:ln w="9525">
            <a:solidFill>
              <a:srgbClr val="DCE3EC"/>
            </a:solidFill>
            <a:prstDash val="solid"/>
          </a:ln>
        </p:spPr>
        <p:txBody>
          <a:bodyPr/>
          <a:lstStyle/>
          <a:p>
            <a:endParaRPr lang="en-SG"/>
          </a:p>
        </p:txBody>
      </p:sp>
      <p:sp>
        <p:nvSpPr>
          <p:cNvPr id="12" name="Text 8"/>
          <p:cNvSpPr/>
          <p:nvPr/>
        </p:nvSpPr>
        <p:spPr>
          <a:xfrm>
            <a:off x="713232" y="5212080"/>
            <a:ext cx="10735056" cy="685800"/>
          </a:xfrm>
          <a:prstGeom prst="rect">
            <a:avLst/>
          </a:prstGeom>
          <a:noFill/>
          <a:ln/>
        </p:spPr>
        <p:txBody>
          <a:bodyPr wrap="square" lIns="0" tIns="0" rIns="0" bIns="0" rtlCol="0" anchor="ctr"/>
          <a:lstStyle/>
          <a:p>
            <a:pPr marL="0" indent="0">
              <a:buNone/>
            </a:pPr>
            <a:r>
              <a:rPr lang="en-US" sz="1350" b="1" dirty="0">
                <a:solidFill>
                  <a:srgbClr val="1F3864"/>
                </a:solidFill>
                <a:latin typeface="Calibri" pitchFamily="34" charset="0"/>
                <a:ea typeface="Calibri" pitchFamily="34" charset="-122"/>
                <a:cs typeface="Calibri" pitchFamily="34" charset="-120"/>
              </a:rPr>
              <a:t>Neither family is sufficient alone. Event information is conditioning rather than driving: useful in the context of prevailing momentum and regime, not as a standalone predictor.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How the Evaluation Works</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Purged walk-forward, with thresholds chosen on validation data only</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457200" y="1280160"/>
            <a:ext cx="5486400" cy="566928"/>
          </a:xfrm>
          <a:prstGeom prst="rect">
            <a:avLst/>
          </a:prstGeom>
          <a:solidFill>
            <a:srgbClr val="D6E0EC"/>
          </a:solidFill>
          <a:ln w="12700">
            <a:solidFill>
              <a:srgbClr val="2E5C8A"/>
            </a:solidFill>
            <a:prstDash val="solid"/>
          </a:ln>
        </p:spPr>
        <p:txBody>
          <a:bodyPr/>
          <a:lstStyle/>
          <a:p>
            <a:endParaRPr lang="en-SG"/>
          </a:p>
        </p:txBody>
      </p:sp>
      <p:sp>
        <p:nvSpPr>
          <p:cNvPr id="6" name="Text 4"/>
          <p:cNvSpPr/>
          <p:nvPr/>
        </p:nvSpPr>
        <p:spPr>
          <a:xfrm>
            <a:off x="594360" y="1417320"/>
            <a:ext cx="5212080" cy="292608"/>
          </a:xfrm>
          <a:prstGeom prst="rect">
            <a:avLst/>
          </a:prstGeom>
          <a:noFill/>
          <a:ln/>
        </p:spPr>
        <p:txBody>
          <a:bodyPr wrap="square" lIns="0" tIns="0" rIns="0" bIns="0"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TRAIN  ·  2,520 rows (10-year rolling)</a:t>
            </a:r>
            <a:endParaRPr lang="en-US" sz="1200" dirty="0"/>
          </a:p>
        </p:txBody>
      </p:sp>
      <p:sp>
        <p:nvSpPr>
          <p:cNvPr id="7" name="Shape 5"/>
          <p:cNvSpPr/>
          <p:nvPr/>
        </p:nvSpPr>
        <p:spPr>
          <a:xfrm>
            <a:off x="6035040" y="1280160"/>
            <a:ext cx="2011680" cy="566928"/>
          </a:xfrm>
          <a:prstGeom prst="rect">
            <a:avLst/>
          </a:prstGeom>
          <a:solidFill>
            <a:srgbClr val="EAF1EA"/>
          </a:solidFill>
          <a:ln w="12700">
            <a:solidFill>
              <a:srgbClr val="2E6B4F"/>
            </a:solidFill>
            <a:prstDash val="solid"/>
          </a:ln>
        </p:spPr>
        <p:txBody>
          <a:bodyPr/>
          <a:lstStyle/>
          <a:p>
            <a:endParaRPr lang="en-SG"/>
          </a:p>
        </p:txBody>
      </p:sp>
      <p:sp>
        <p:nvSpPr>
          <p:cNvPr id="8" name="Text 6"/>
          <p:cNvSpPr/>
          <p:nvPr/>
        </p:nvSpPr>
        <p:spPr>
          <a:xfrm>
            <a:off x="6172200" y="1417320"/>
            <a:ext cx="1737360" cy="292608"/>
          </a:xfrm>
          <a:prstGeom prst="rect">
            <a:avLst/>
          </a:prstGeom>
          <a:noFill/>
          <a:ln/>
        </p:spPr>
        <p:txBody>
          <a:bodyPr wrap="square" lIns="0" tIns="0" rIns="0" bIns="0" rtlCol="0" anchor="ctr"/>
          <a:lstStyle/>
          <a:p>
            <a:pPr marL="0" indent="0">
              <a:buNone/>
            </a:pPr>
            <a:r>
              <a:rPr lang="en-US" sz="1200" b="1" dirty="0">
                <a:solidFill>
                  <a:srgbClr val="2E6B4F"/>
                </a:solidFill>
                <a:latin typeface="Calibri" pitchFamily="34" charset="0"/>
                <a:ea typeface="Calibri" pitchFamily="34" charset="-122"/>
                <a:cs typeface="Calibri" pitchFamily="34" charset="-120"/>
              </a:rPr>
              <a:t>VALIDATION  ·  252</a:t>
            </a:r>
            <a:endParaRPr lang="en-US" sz="1200" dirty="0"/>
          </a:p>
        </p:txBody>
      </p:sp>
      <p:sp>
        <p:nvSpPr>
          <p:cNvPr id="9" name="Shape 7"/>
          <p:cNvSpPr/>
          <p:nvPr/>
        </p:nvSpPr>
        <p:spPr>
          <a:xfrm>
            <a:off x="8138160" y="1280160"/>
            <a:ext cx="502920" cy="566928"/>
          </a:xfrm>
          <a:prstGeom prst="rect">
            <a:avLst/>
          </a:prstGeom>
          <a:solidFill>
            <a:srgbClr val="E8D6D6"/>
          </a:solidFill>
          <a:ln w="12700">
            <a:solidFill>
              <a:srgbClr val="B02418"/>
            </a:solidFill>
            <a:prstDash val="solid"/>
          </a:ln>
        </p:spPr>
        <p:txBody>
          <a:bodyPr/>
          <a:lstStyle/>
          <a:p>
            <a:endParaRPr lang="en-SG"/>
          </a:p>
        </p:txBody>
      </p:sp>
      <p:sp>
        <p:nvSpPr>
          <p:cNvPr id="10" name="Text 8"/>
          <p:cNvSpPr/>
          <p:nvPr/>
        </p:nvSpPr>
        <p:spPr>
          <a:xfrm>
            <a:off x="8138160" y="1417320"/>
            <a:ext cx="502920" cy="292608"/>
          </a:xfrm>
          <a:prstGeom prst="rect">
            <a:avLst/>
          </a:prstGeom>
          <a:noFill/>
          <a:ln/>
        </p:spPr>
        <p:txBody>
          <a:bodyPr wrap="square" lIns="0" tIns="0" rIns="0" bIns="0" rtlCol="0" anchor="ctr"/>
          <a:lstStyle/>
          <a:p>
            <a:pPr marL="0" indent="0" algn="ctr">
              <a:buNone/>
            </a:pPr>
            <a:r>
              <a:rPr lang="en-US" sz="1200" b="1" dirty="0">
                <a:solidFill>
                  <a:srgbClr val="B02418"/>
                </a:solidFill>
                <a:latin typeface="Calibri" pitchFamily="34" charset="0"/>
                <a:ea typeface="Calibri" pitchFamily="34" charset="-122"/>
                <a:cs typeface="Calibri" pitchFamily="34" charset="-120"/>
              </a:rPr>
              <a:t>P</a:t>
            </a:r>
            <a:endParaRPr lang="en-US" sz="1200" dirty="0"/>
          </a:p>
        </p:txBody>
      </p:sp>
      <p:sp>
        <p:nvSpPr>
          <p:cNvPr id="11" name="Shape 9"/>
          <p:cNvSpPr/>
          <p:nvPr/>
        </p:nvSpPr>
        <p:spPr>
          <a:xfrm>
            <a:off x="8732520" y="1280160"/>
            <a:ext cx="2971800" cy="566928"/>
          </a:xfrm>
          <a:prstGeom prst="rect">
            <a:avLst/>
          </a:prstGeom>
          <a:solidFill>
            <a:srgbClr val="F4E4D0"/>
          </a:solidFill>
          <a:ln w="12700">
            <a:solidFill>
              <a:srgbClr val="A8722C"/>
            </a:solidFill>
            <a:prstDash val="solid"/>
          </a:ln>
        </p:spPr>
        <p:txBody>
          <a:bodyPr/>
          <a:lstStyle/>
          <a:p>
            <a:endParaRPr lang="en-SG"/>
          </a:p>
        </p:txBody>
      </p:sp>
      <p:sp>
        <p:nvSpPr>
          <p:cNvPr id="12" name="Text 10"/>
          <p:cNvSpPr/>
          <p:nvPr/>
        </p:nvSpPr>
        <p:spPr>
          <a:xfrm>
            <a:off x="8869680" y="1417320"/>
            <a:ext cx="2697480" cy="292608"/>
          </a:xfrm>
          <a:prstGeom prst="rect">
            <a:avLst/>
          </a:prstGeom>
          <a:noFill/>
          <a:ln/>
        </p:spPr>
        <p:txBody>
          <a:bodyPr wrap="square" lIns="0" tIns="0" rIns="0" bIns="0" rtlCol="0" anchor="ctr"/>
          <a:lstStyle/>
          <a:p>
            <a:pPr marL="0" indent="0">
              <a:buNone/>
            </a:pPr>
            <a:r>
              <a:rPr lang="en-US" sz="1200" b="1" dirty="0">
                <a:solidFill>
                  <a:srgbClr val="8A5A1E"/>
                </a:solidFill>
                <a:latin typeface="Calibri" pitchFamily="34" charset="0"/>
                <a:ea typeface="Calibri" pitchFamily="34" charset="-122"/>
                <a:cs typeface="Calibri" pitchFamily="34" charset="-120"/>
              </a:rPr>
              <a:t>TEST  ·  60 rows, never seen</a:t>
            </a:r>
            <a:endParaRPr lang="en-US" sz="1200" dirty="0"/>
          </a:p>
        </p:txBody>
      </p:sp>
      <p:sp>
        <p:nvSpPr>
          <p:cNvPr id="13" name="Text 11"/>
          <p:cNvSpPr/>
          <p:nvPr/>
        </p:nvSpPr>
        <p:spPr>
          <a:xfrm>
            <a:off x="457200" y="1965960"/>
            <a:ext cx="11247120" cy="27432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P = purge gap.  The window slides forward 60 rows and repeats, 36 times, with no overlap between test windows.</a:t>
            </a:r>
            <a:endParaRPr lang="en-US" sz="1200" dirty="0"/>
          </a:p>
        </p:txBody>
      </p:sp>
      <p:sp>
        <p:nvSpPr>
          <p:cNvPr id="14" name="Shape 12"/>
          <p:cNvSpPr/>
          <p:nvPr/>
        </p:nvSpPr>
        <p:spPr>
          <a:xfrm>
            <a:off x="457200" y="2468880"/>
            <a:ext cx="3566160" cy="1920240"/>
          </a:xfrm>
          <a:prstGeom prst="roundRect">
            <a:avLst>
              <a:gd name="adj" fmla="val 2381"/>
            </a:avLst>
          </a:prstGeom>
          <a:solidFill>
            <a:srgbClr val="FFFFFF"/>
          </a:solidFill>
          <a:ln w="12700">
            <a:solidFill>
              <a:srgbClr val="B4B4B4"/>
            </a:solidFill>
            <a:prstDash val="solid"/>
          </a:ln>
        </p:spPr>
        <p:txBody>
          <a:bodyPr/>
          <a:lstStyle/>
          <a:p>
            <a:endParaRPr lang="en-SG"/>
          </a:p>
        </p:txBody>
      </p:sp>
      <p:sp>
        <p:nvSpPr>
          <p:cNvPr id="15" name="Text 13"/>
          <p:cNvSpPr/>
          <p:nvPr/>
        </p:nvSpPr>
        <p:spPr>
          <a:xfrm>
            <a:off x="594360" y="2578608"/>
            <a:ext cx="329184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Why a purge gap</a:t>
            </a:r>
            <a:endParaRPr lang="en-US" sz="1300" dirty="0"/>
          </a:p>
        </p:txBody>
      </p:sp>
      <p:sp>
        <p:nvSpPr>
          <p:cNvPr id="16" name="Text 14"/>
          <p:cNvSpPr/>
          <p:nvPr/>
        </p:nvSpPr>
        <p:spPr>
          <a:xfrm>
            <a:off x="594360" y="2871216"/>
            <a:ext cx="3291840" cy="1408176"/>
          </a:xfrm>
          <a:prstGeom prst="rect">
            <a:avLst/>
          </a:prstGeom>
          <a:noFill/>
          <a:ln/>
        </p:spPr>
        <p:txBody>
          <a:bodyPr wrap="square" lIns="0" tIns="0" rIns="0" bIns="0" rtlCol="0" anchor="t"/>
          <a:lstStyle/>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The target depends on the next day’s close, so the last training row would otherwise resolve using a day that falls inside the test window.</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One row is enough at a one-day horizon.</a:t>
            </a:r>
            <a:endParaRPr lang="en-US" sz="1100" dirty="0"/>
          </a:p>
        </p:txBody>
      </p:sp>
      <p:sp>
        <p:nvSpPr>
          <p:cNvPr id="17" name="Shape 15"/>
          <p:cNvSpPr/>
          <p:nvPr/>
        </p:nvSpPr>
        <p:spPr>
          <a:xfrm>
            <a:off x="4251960" y="2468880"/>
            <a:ext cx="3566160" cy="1920240"/>
          </a:xfrm>
          <a:prstGeom prst="roundRect">
            <a:avLst>
              <a:gd name="adj" fmla="val 2381"/>
            </a:avLst>
          </a:prstGeom>
          <a:solidFill>
            <a:srgbClr val="FFFFFF"/>
          </a:solidFill>
          <a:ln w="12700">
            <a:solidFill>
              <a:srgbClr val="2E6B4F"/>
            </a:solidFill>
            <a:prstDash val="solid"/>
          </a:ln>
        </p:spPr>
        <p:txBody>
          <a:bodyPr/>
          <a:lstStyle/>
          <a:p>
            <a:endParaRPr lang="en-SG"/>
          </a:p>
        </p:txBody>
      </p:sp>
      <p:sp>
        <p:nvSpPr>
          <p:cNvPr id="18" name="Text 16"/>
          <p:cNvSpPr/>
          <p:nvPr/>
        </p:nvSpPr>
        <p:spPr>
          <a:xfrm>
            <a:off x="4389120" y="2578608"/>
            <a:ext cx="3291840" cy="256032"/>
          </a:xfrm>
          <a:prstGeom prst="rect">
            <a:avLst/>
          </a:prstGeom>
          <a:noFill/>
          <a:ln/>
        </p:spPr>
        <p:txBody>
          <a:bodyPr wrap="square" lIns="0" tIns="0" rIns="0" bIns="0" rtlCol="0" anchor="ctr"/>
          <a:lstStyle/>
          <a:p>
            <a:pPr marL="0" indent="0">
              <a:buNone/>
            </a:pPr>
            <a:r>
              <a:rPr lang="en-US" sz="1300" b="1" dirty="0">
                <a:solidFill>
                  <a:srgbClr val="2E6B4F"/>
                </a:solidFill>
                <a:latin typeface="Calibri" pitchFamily="34" charset="0"/>
                <a:ea typeface="Calibri" pitchFamily="34" charset="-122"/>
                <a:cs typeface="Calibri" pitchFamily="34" charset="-120"/>
              </a:rPr>
              <a:t>Why validation-only thresholds</a:t>
            </a:r>
            <a:endParaRPr lang="en-US" sz="1300" dirty="0"/>
          </a:p>
        </p:txBody>
      </p:sp>
      <p:sp>
        <p:nvSpPr>
          <p:cNvPr id="19" name="Text 17"/>
          <p:cNvSpPr/>
          <p:nvPr/>
        </p:nvSpPr>
        <p:spPr>
          <a:xfrm>
            <a:off x="4389120" y="2871216"/>
            <a:ext cx="3291840" cy="1408176"/>
          </a:xfrm>
          <a:prstGeom prst="rect">
            <a:avLst/>
          </a:prstGeom>
          <a:noFill/>
          <a:ln/>
        </p:spPr>
        <p:txBody>
          <a:bodyPr wrap="square" lIns="0" tIns="0" rIns="0" bIns="0" rtlCol="0" anchor="t"/>
          <a:lstStyle/>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The confidence threshold is chosen inside each fold’s own 252-day validation window, never by looking at test performance.</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That costs some reported return, and buys a number you can trust.</a:t>
            </a:r>
            <a:endParaRPr lang="en-US" sz="1100" dirty="0"/>
          </a:p>
        </p:txBody>
      </p:sp>
      <p:sp>
        <p:nvSpPr>
          <p:cNvPr id="20" name="Shape 18"/>
          <p:cNvSpPr/>
          <p:nvPr/>
        </p:nvSpPr>
        <p:spPr>
          <a:xfrm>
            <a:off x="8046720" y="2468880"/>
            <a:ext cx="3657600" cy="1920240"/>
          </a:xfrm>
          <a:prstGeom prst="roundRect">
            <a:avLst>
              <a:gd name="adj" fmla="val 2381"/>
            </a:avLst>
          </a:prstGeom>
          <a:solidFill>
            <a:srgbClr val="FFFFFF"/>
          </a:solidFill>
          <a:ln w="12700">
            <a:solidFill>
              <a:srgbClr val="2E5C8A"/>
            </a:solidFill>
            <a:prstDash val="solid"/>
          </a:ln>
        </p:spPr>
        <p:txBody>
          <a:bodyPr/>
          <a:lstStyle/>
          <a:p>
            <a:endParaRPr lang="en-SG"/>
          </a:p>
        </p:txBody>
      </p:sp>
      <p:sp>
        <p:nvSpPr>
          <p:cNvPr id="21" name="Text 19"/>
          <p:cNvSpPr/>
          <p:nvPr/>
        </p:nvSpPr>
        <p:spPr>
          <a:xfrm>
            <a:off x="8183880" y="2578608"/>
            <a:ext cx="338328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What is reported</a:t>
            </a:r>
            <a:endParaRPr lang="en-US" sz="1300" dirty="0"/>
          </a:p>
        </p:txBody>
      </p:sp>
      <p:sp>
        <p:nvSpPr>
          <p:cNvPr id="22" name="Text 20"/>
          <p:cNvSpPr/>
          <p:nvPr/>
        </p:nvSpPr>
        <p:spPr>
          <a:xfrm>
            <a:off x="8183880" y="2871216"/>
            <a:ext cx="3383280" cy="1408176"/>
          </a:xfrm>
          <a:prstGeom prst="rect">
            <a:avLst/>
          </a:prstGeom>
          <a:noFill/>
          <a:ln/>
        </p:spPr>
        <p:txBody>
          <a:bodyPr wrap="square" lIns="0" tIns="0" rIns="0" bIns="0" rtlCol="0" anchor="t"/>
          <a:lstStyle/>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36 non-overlapping folds</a:t>
            </a: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2,160 out-of-sample days</a:t>
            </a: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Complete coverage, July 2017 to October 2025</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Every prediction is genuinely out of sample.</a:t>
            </a:r>
            <a:endParaRPr lang="en-US" sz="1100" dirty="0"/>
          </a:p>
        </p:txBody>
      </p:sp>
      <p:sp>
        <p:nvSpPr>
          <p:cNvPr id="23" name="Shape 21"/>
          <p:cNvSpPr/>
          <p:nvPr/>
        </p:nvSpPr>
        <p:spPr>
          <a:xfrm>
            <a:off x="457200" y="4663440"/>
            <a:ext cx="11247120" cy="1280160"/>
          </a:xfrm>
          <a:prstGeom prst="rect">
            <a:avLst/>
          </a:prstGeom>
          <a:solidFill>
            <a:srgbClr val="EEF2F7"/>
          </a:solidFill>
          <a:ln w="9525">
            <a:solidFill>
              <a:srgbClr val="DCE3EC"/>
            </a:solidFill>
            <a:prstDash val="solid"/>
          </a:ln>
        </p:spPr>
        <p:txBody>
          <a:bodyPr/>
          <a:lstStyle/>
          <a:p>
            <a:endParaRPr lang="en-SG"/>
          </a:p>
        </p:txBody>
      </p:sp>
      <p:sp>
        <p:nvSpPr>
          <p:cNvPr id="24" name="Text 22"/>
          <p:cNvSpPr/>
          <p:nvPr/>
        </p:nvSpPr>
        <p:spPr>
          <a:xfrm>
            <a:off x="713232" y="4800600"/>
            <a:ext cx="10735056" cy="1005840"/>
          </a:xfrm>
          <a:prstGeom prst="rect">
            <a:avLst/>
          </a:prstGeom>
          <a:noFill/>
          <a:ln/>
        </p:spPr>
        <p:txBody>
          <a:bodyPr wrap="square" lIns="0" tIns="0" rIns="0" bIns="0" rtlCol="0" anchor="ctr"/>
          <a:lstStyle/>
          <a:p>
            <a:pPr marL="0" indent="0">
              <a:buNone/>
            </a:pPr>
            <a:r>
              <a:rPr lang="en-US" sz="1350" b="1" dirty="0">
                <a:solidFill>
                  <a:srgbClr val="1F3864"/>
                </a:solidFill>
                <a:latin typeface="Calibri" pitchFamily="34" charset="0"/>
                <a:ea typeface="Calibri" pitchFamily="34" charset="-122"/>
                <a:cs typeface="Calibri" pitchFamily="34" charset="-120"/>
              </a:rPr>
              <a:t>The single most common way financial machine-learning results get inflated is evaluating on data that has leaked into training. This design is built to prevent the main leakage path rather than to argue it did not happen.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Predictive Result</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36 non-overlapping folds, 2,160 out-of-sample days</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457200" y="1280160"/>
            <a:ext cx="2679192" cy="1371600"/>
          </a:xfrm>
          <a:prstGeom prst="rect">
            <a:avLst/>
          </a:prstGeom>
          <a:solidFill>
            <a:srgbClr val="EEF2F7"/>
          </a:solidFill>
          <a:ln w="9525">
            <a:solidFill>
              <a:srgbClr val="DCE3EC"/>
            </a:solidFill>
            <a:prstDash val="solid"/>
          </a:ln>
        </p:spPr>
        <p:txBody>
          <a:bodyPr/>
          <a:lstStyle/>
          <a:p>
            <a:endParaRPr lang="en-SG"/>
          </a:p>
        </p:txBody>
      </p:sp>
      <p:sp>
        <p:nvSpPr>
          <p:cNvPr id="6" name="Text 4"/>
          <p:cNvSpPr/>
          <p:nvPr/>
        </p:nvSpPr>
        <p:spPr>
          <a:xfrm>
            <a:off x="640080" y="1417320"/>
            <a:ext cx="2313432"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Mean fold AUC</a:t>
            </a:r>
            <a:endParaRPr lang="en-US" sz="1150" dirty="0"/>
          </a:p>
        </p:txBody>
      </p:sp>
      <p:sp>
        <p:nvSpPr>
          <p:cNvPr id="7" name="Text 5"/>
          <p:cNvSpPr/>
          <p:nvPr/>
        </p:nvSpPr>
        <p:spPr>
          <a:xfrm>
            <a:off x="640080" y="1691640"/>
            <a:ext cx="2313432" cy="502920"/>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0.5389</a:t>
            </a:r>
            <a:endParaRPr lang="en-US" sz="3000" dirty="0"/>
          </a:p>
        </p:txBody>
      </p:sp>
      <p:sp>
        <p:nvSpPr>
          <p:cNvPr id="8" name="Text 6"/>
          <p:cNvSpPr/>
          <p:nvPr/>
        </p:nvSpPr>
        <p:spPr>
          <a:xfrm>
            <a:off x="640080" y="2240280"/>
            <a:ext cx="2313432" cy="274320"/>
          </a:xfrm>
          <a:prstGeom prst="rect">
            <a:avLst/>
          </a:prstGeom>
          <a:noFill/>
          <a:ln/>
        </p:spPr>
        <p:txBody>
          <a:bodyPr wrap="square" lIns="0" tIns="0" rIns="0" bIns="0" rtlCol="0" anchor="ctr"/>
          <a:lstStyle/>
          <a:p>
            <a:pPr marL="0" indent="0">
              <a:buNone/>
            </a:pPr>
            <a:r>
              <a:rPr lang="en-US" sz="1050" dirty="0">
                <a:solidFill>
                  <a:srgbClr val="5A5A5A"/>
                </a:solidFill>
                <a:latin typeface="Calibri" pitchFamily="34" charset="0"/>
                <a:ea typeface="Calibri" pitchFamily="34" charset="-122"/>
                <a:cs typeface="Calibri" pitchFamily="34" charset="-120"/>
              </a:rPr>
              <a:t>against 0.50 for random</a:t>
            </a:r>
            <a:endParaRPr lang="en-US" sz="1050" dirty="0"/>
          </a:p>
        </p:txBody>
      </p:sp>
      <p:sp>
        <p:nvSpPr>
          <p:cNvPr id="9" name="Shape 7"/>
          <p:cNvSpPr/>
          <p:nvPr/>
        </p:nvSpPr>
        <p:spPr>
          <a:xfrm>
            <a:off x="3319272" y="1280160"/>
            <a:ext cx="2679192" cy="1371600"/>
          </a:xfrm>
          <a:prstGeom prst="rect">
            <a:avLst/>
          </a:prstGeom>
          <a:solidFill>
            <a:srgbClr val="EEF2F7"/>
          </a:solidFill>
          <a:ln w="9525">
            <a:solidFill>
              <a:srgbClr val="DCE3EC"/>
            </a:solidFill>
            <a:prstDash val="solid"/>
          </a:ln>
        </p:spPr>
        <p:txBody>
          <a:bodyPr/>
          <a:lstStyle/>
          <a:p>
            <a:endParaRPr lang="en-SG"/>
          </a:p>
        </p:txBody>
      </p:sp>
      <p:sp>
        <p:nvSpPr>
          <p:cNvPr id="10" name="Text 8"/>
          <p:cNvSpPr/>
          <p:nvPr/>
        </p:nvSpPr>
        <p:spPr>
          <a:xfrm>
            <a:off x="3502152" y="1417320"/>
            <a:ext cx="2313432"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Pooled AUC</a:t>
            </a:r>
            <a:endParaRPr lang="en-US" sz="1150" dirty="0"/>
          </a:p>
        </p:txBody>
      </p:sp>
      <p:sp>
        <p:nvSpPr>
          <p:cNvPr id="11" name="Text 9"/>
          <p:cNvSpPr/>
          <p:nvPr/>
        </p:nvSpPr>
        <p:spPr>
          <a:xfrm>
            <a:off x="3502152" y="1691640"/>
            <a:ext cx="2313432" cy="502920"/>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0.5145</a:t>
            </a:r>
            <a:endParaRPr lang="en-US" sz="3000" dirty="0"/>
          </a:p>
        </p:txBody>
      </p:sp>
      <p:sp>
        <p:nvSpPr>
          <p:cNvPr id="12" name="Text 10"/>
          <p:cNvSpPr/>
          <p:nvPr/>
        </p:nvSpPr>
        <p:spPr>
          <a:xfrm>
            <a:off x="3502152" y="2240280"/>
            <a:ext cx="2313432" cy="274320"/>
          </a:xfrm>
          <a:prstGeom prst="rect">
            <a:avLst/>
          </a:prstGeom>
          <a:noFill/>
          <a:ln/>
        </p:spPr>
        <p:txBody>
          <a:bodyPr wrap="square" lIns="0" tIns="0" rIns="0" bIns="0" rtlCol="0" anchor="ctr"/>
          <a:lstStyle/>
          <a:p>
            <a:pPr marL="0" indent="0">
              <a:buNone/>
            </a:pPr>
            <a:r>
              <a:rPr lang="en-US" sz="1050" dirty="0">
                <a:solidFill>
                  <a:srgbClr val="5A5A5A"/>
                </a:solidFill>
                <a:latin typeface="Calibri" pitchFamily="34" charset="0"/>
                <a:ea typeface="Calibri" pitchFamily="34" charset="-122"/>
                <a:cs typeface="Calibri" pitchFamily="34" charset="-120"/>
              </a:rPr>
              <a:t>all 2,160 predictions at once</a:t>
            </a:r>
            <a:endParaRPr lang="en-US" sz="1050" dirty="0"/>
          </a:p>
        </p:txBody>
      </p:sp>
      <p:sp>
        <p:nvSpPr>
          <p:cNvPr id="13" name="Shape 11"/>
          <p:cNvSpPr/>
          <p:nvPr/>
        </p:nvSpPr>
        <p:spPr>
          <a:xfrm>
            <a:off x="6181344" y="1280160"/>
            <a:ext cx="2679192" cy="1371600"/>
          </a:xfrm>
          <a:prstGeom prst="rect">
            <a:avLst/>
          </a:prstGeom>
          <a:solidFill>
            <a:srgbClr val="EEF2F7"/>
          </a:solidFill>
          <a:ln w="9525">
            <a:solidFill>
              <a:srgbClr val="DCE3EC"/>
            </a:solidFill>
            <a:prstDash val="solid"/>
          </a:ln>
        </p:spPr>
        <p:txBody>
          <a:bodyPr/>
          <a:lstStyle/>
          <a:p>
            <a:endParaRPr lang="en-SG"/>
          </a:p>
        </p:txBody>
      </p:sp>
      <p:sp>
        <p:nvSpPr>
          <p:cNvPr id="14" name="Text 12"/>
          <p:cNvSpPr/>
          <p:nvPr/>
        </p:nvSpPr>
        <p:spPr>
          <a:xfrm>
            <a:off x="6364224" y="1417320"/>
            <a:ext cx="2313432"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Folds above 0.50</a:t>
            </a:r>
            <a:endParaRPr lang="en-US" sz="1150" dirty="0"/>
          </a:p>
        </p:txBody>
      </p:sp>
      <p:sp>
        <p:nvSpPr>
          <p:cNvPr id="15" name="Text 13"/>
          <p:cNvSpPr/>
          <p:nvPr/>
        </p:nvSpPr>
        <p:spPr>
          <a:xfrm>
            <a:off x="6364224" y="1691640"/>
            <a:ext cx="2313432" cy="502920"/>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26 / 36</a:t>
            </a:r>
            <a:endParaRPr lang="en-US" sz="3000" dirty="0"/>
          </a:p>
        </p:txBody>
      </p:sp>
      <p:sp>
        <p:nvSpPr>
          <p:cNvPr id="16" name="Text 14"/>
          <p:cNvSpPr/>
          <p:nvPr/>
        </p:nvSpPr>
        <p:spPr>
          <a:xfrm>
            <a:off x="6364224" y="2240280"/>
            <a:ext cx="2313432" cy="274320"/>
          </a:xfrm>
          <a:prstGeom prst="rect">
            <a:avLst/>
          </a:prstGeom>
          <a:noFill/>
          <a:ln/>
        </p:spPr>
        <p:txBody>
          <a:bodyPr wrap="square" lIns="0" tIns="0" rIns="0" bIns="0" rtlCol="0" anchor="ctr"/>
          <a:lstStyle/>
          <a:p>
            <a:pPr marL="0" indent="0">
              <a:buNone/>
            </a:pPr>
            <a:r>
              <a:rPr lang="en-US" sz="1050" dirty="0">
                <a:solidFill>
                  <a:srgbClr val="5A5A5A"/>
                </a:solidFill>
                <a:latin typeface="Calibri" pitchFamily="34" charset="0"/>
                <a:ea typeface="Calibri" pitchFamily="34" charset="-122"/>
                <a:cs typeface="Calibri" pitchFamily="34" charset="-120"/>
              </a:rPr>
              <a:t>above 0.55 in 14</a:t>
            </a:r>
            <a:endParaRPr lang="en-US" sz="1050" dirty="0"/>
          </a:p>
        </p:txBody>
      </p:sp>
      <p:sp>
        <p:nvSpPr>
          <p:cNvPr id="17" name="Shape 15"/>
          <p:cNvSpPr/>
          <p:nvPr/>
        </p:nvSpPr>
        <p:spPr>
          <a:xfrm>
            <a:off x="9043416" y="1280160"/>
            <a:ext cx="2679192" cy="1371600"/>
          </a:xfrm>
          <a:prstGeom prst="rect">
            <a:avLst/>
          </a:prstGeom>
          <a:solidFill>
            <a:srgbClr val="EEF2F7"/>
          </a:solidFill>
          <a:ln w="9525">
            <a:solidFill>
              <a:srgbClr val="DCE3EC"/>
            </a:solidFill>
            <a:prstDash val="solid"/>
          </a:ln>
        </p:spPr>
        <p:txBody>
          <a:bodyPr/>
          <a:lstStyle/>
          <a:p>
            <a:endParaRPr lang="en-SG"/>
          </a:p>
        </p:txBody>
      </p:sp>
      <p:sp>
        <p:nvSpPr>
          <p:cNvPr id="18" name="Text 16"/>
          <p:cNvSpPr/>
          <p:nvPr/>
        </p:nvSpPr>
        <p:spPr>
          <a:xfrm>
            <a:off x="9226296" y="1417320"/>
            <a:ext cx="2313432" cy="256032"/>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One-sided p</a:t>
            </a:r>
            <a:endParaRPr lang="en-US" sz="1150" dirty="0"/>
          </a:p>
        </p:txBody>
      </p:sp>
      <p:sp>
        <p:nvSpPr>
          <p:cNvPr id="19" name="Text 17"/>
          <p:cNvSpPr/>
          <p:nvPr/>
        </p:nvSpPr>
        <p:spPr>
          <a:xfrm>
            <a:off x="9226296" y="1691640"/>
            <a:ext cx="2313432" cy="502920"/>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0.000316</a:t>
            </a:r>
            <a:endParaRPr lang="en-US" sz="3000" dirty="0"/>
          </a:p>
        </p:txBody>
      </p:sp>
      <p:sp>
        <p:nvSpPr>
          <p:cNvPr id="20" name="Text 18"/>
          <p:cNvSpPr/>
          <p:nvPr/>
        </p:nvSpPr>
        <p:spPr>
          <a:xfrm>
            <a:off x="9226296" y="2240280"/>
            <a:ext cx="2313432" cy="274320"/>
          </a:xfrm>
          <a:prstGeom prst="rect">
            <a:avLst/>
          </a:prstGeom>
          <a:noFill/>
          <a:ln/>
        </p:spPr>
        <p:txBody>
          <a:bodyPr wrap="square" lIns="0" tIns="0" rIns="0" bIns="0" rtlCol="0" anchor="ctr"/>
          <a:lstStyle/>
          <a:p>
            <a:pPr marL="0" indent="0">
              <a:buNone/>
            </a:pPr>
            <a:r>
              <a:rPr lang="en-US" sz="1050" dirty="0">
                <a:solidFill>
                  <a:srgbClr val="5A5A5A"/>
                </a:solidFill>
                <a:latin typeface="Calibri" pitchFamily="34" charset="0"/>
                <a:ea typeface="Calibri" pitchFamily="34" charset="-122"/>
                <a:cs typeface="Calibri" pitchFamily="34" charset="-120"/>
              </a:rPr>
              <a:t>t = 3.754</a:t>
            </a:r>
            <a:endParaRPr lang="en-US" sz="1050" dirty="0"/>
          </a:p>
        </p:txBody>
      </p:sp>
      <p:sp>
        <p:nvSpPr>
          <p:cNvPr id="21" name="Shape 19"/>
          <p:cNvSpPr/>
          <p:nvPr/>
        </p:nvSpPr>
        <p:spPr>
          <a:xfrm>
            <a:off x="457200" y="2834640"/>
            <a:ext cx="11247120" cy="640080"/>
          </a:xfrm>
          <a:prstGeom prst="rect">
            <a:avLst/>
          </a:prstGeom>
          <a:solidFill>
            <a:srgbClr val="EEF2F7"/>
          </a:solidFill>
          <a:ln w="9525">
            <a:solidFill>
              <a:srgbClr val="DCE3EC"/>
            </a:solidFill>
            <a:prstDash val="solid"/>
          </a:ln>
        </p:spPr>
        <p:txBody>
          <a:bodyPr/>
          <a:lstStyle/>
          <a:p>
            <a:endParaRPr lang="en-SG"/>
          </a:p>
        </p:txBody>
      </p:sp>
      <p:sp>
        <p:nvSpPr>
          <p:cNvPr id="22" name="Text 20"/>
          <p:cNvSpPr/>
          <p:nvPr/>
        </p:nvSpPr>
        <p:spPr>
          <a:xfrm>
            <a:off x="713232" y="2971800"/>
            <a:ext cx="10735056" cy="3657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Bonferroni-corrected p = 0.009484 across the 30 configurations examined in Runs 3, 4 and 5 — the configurations that competed for selection into this evaluation.</a:t>
            </a:r>
            <a:endParaRPr lang="en-US" sz="1250" dirty="0"/>
          </a:p>
        </p:txBody>
      </p:sp>
      <p:sp>
        <p:nvSpPr>
          <p:cNvPr id="23" name="Text 21"/>
          <p:cNvSpPr/>
          <p:nvPr/>
        </p:nvSpPr>
        <p:spPr>
          <a:xfrm>
            <a:off x="457200" y="3657600"/>
            <a:ext cx="112471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Two robustness checks</a:t>
            </a:r>
            <a:endParaRPr lang="en-US" sz="1500" dirty="0"/>
          </a:p>
        </p:txBody>
      </p:sp>
      <p:sp>
        <p:nvSpPr>
          <p:cNvPr id="24" name="Shape 22"/>
          <p:cNvSpPr/>
          <p:nvPr/>
        </p:nvSpPr>
        <p:spPr>
          <a:xfrm>
            <a:off x="457200" y="4023360"/>
            <a:ext cx="5532120" cy="1600200"/>
          </a:xfrm>
          <a:prstGeom prst="roundRect">
            <a:avLst>
              <a:gd name="adj" fmla="val 2857"/>
            </a:avLst>
          </a:prstGeom>
          <a:solidFill>
            <a:srgbClr val="FFFFFF"/>
          </a:solidFill>
          <a:ln w="12700">
            <a:solidFill>
              <a:srgbClr val="2E6B4F"/>
            </a:solidFill>
            <a:prstDash val="solid"/>
          </a:ln>
        </p:spPr>
        <p:txBody>
          <a:bodyPr/>
          <a:lstStyle/>
          <a:p>
            <a:endParaRPr lang="en-SG"/>
          </a:p>
        </p:txBody>
      </p:sp>
      <p:sp>
        <p:nvSpPr>
          <p:cNvPr id="25" name="Text 23"/>
          <p:cNvSpPr/>
          <p:nvPr/>
        </p:nvSpPr>
        <p:spPr>
          <a:xfrm>
            <a:off x="594360" y="4133088"/>
            <a:ext cx="5257800" cy="256032"/>
          </a:xfrm>
          <a:prstGeom prst="rect">
            <a:avLst/>
          </a:prstGeom>
          <a:noFill/>
          <a:ln/>
        </p:spPr>
        <p:txBody>
          <a:bodyPr wrap="square" lIns="0" tIns="0" rIns="0" bIns="0" rtlCol="0" anchor="ctr"/>
          <a:lstStyle/>
          <a:p>
            <a:pPr marL="0" indent="0">
              <a:buNone/>
            </a:pPr>
            <a:r>
              <a:rPr lang="en-US" sz="1300" b="1" dirty="0">
                <a:solidFill>
                  <a:srgbClr val="2E6B4F"/>
                </a:solidFill>
                <a:latin typeface="Calibri" pitchFamily="34" charset="0"/>
                <a:ea typeface="Calibri" pitchFamily="34" charset="-122"/>
                <a:cs typeface="Calibri" pitchFamily="34" charset="-120"/>
              </a:rPr>
              <a:t>Is tuning driving the result?</a:t>
            </a:r>
            <a:endParaRPr lang="en-US" sz="1300" dirty="0"/>
          </a:p>
        </p:txBody>
      </p:sp>
      <p:sp>
        <p:nvSpPr>
          <p:cNvPr id="26" name="Text 24"/>
          <p:cNvSpPr/>
          <p:nvPr/>
        </p:nvSpPr>
        <p:spPr>
          <a:xfrm>
            <a:off x="594360" y="4425696"/>
            <a:ext cx="5257800" cy="1088136"/>
          </a:xfrm>
          <a:prstGeom prst="rect">
            <a:avLst/>
          </a:prstGeom>
          <a:noFill/>
          <a:ln/>
        </p:spPr>
        <p:txBody>
          <a:bodyPr wrap="square" lIns="0" tIns="0" rIns="0" bIns="0" rtlCol="0" anchor="t"/>
          <a:lstStyle/>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Hyperparameters were tuned on data up to May 2022, so folds 1 to 21 sit inside that window.</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Inside: 0.5343.  Clean folds outside: 0.5452. The clean folds score higher, so tuning is not propping up the result.</a:t>
            </a:r>
            <a:endParaRPr lang="en-US" sz="1100" dirty="0"/>
          </a:p>
        </p:txBody>
      </p:sp>
      <p:sp>
        <p:nvSpPr>
          <p:cNvPr id="27" name="Shape 25"/>
          <p:cNvSpPr/>
          <p:nvPr/>
        </p:nvSpPr>
        <p:spPr>
          <a:xfrm>
            <a:off x="6172200" y="4023360"/>
            <a:ext cx="5532120" cy="1600200"/>
          </a:xfrm>
          <a:prstGeom prst="roundRect">
            <a:avLst>
              <a:gd name="adj" fmla="val 2857"/>
            </a:avLst>
          </a:prstGeom>
          <a:solidFill>
            <a:srgbClr val="FFFFFF"/>
          </a:solidFill>
          <a:ln w="12700">
            <a:solidFill>
              <a:srgbClr val="2E6B4F"/>
            </a:solidFill>
            <a:prstDash val="solid"/>
          </a:ln>
        </p:spPr>
        <p:txBody>
          <a:bodyPr/>
          <a:lstStyle/>
          <a:p>
            <a:endParaRPr lang="en-SG"/>
          </a:p>
        </p:txBody>
      </p:sp>
      <p:sp>
        <p:nvSpPr>
          <p:cNvPr id="28" name="Text 26"/>
          <p:cNvSpPr/>
          <p:nvPr/>
        </p:nvSpPr>
        <p:spPr>
          <a:xfrm>
            <a:off x="6309360" y="4133088"/>
            <a:ext cx="5257800" cy="256032"/>
          </a:xfrm>
          <a:prstGeom prst="rect">
            <a:avLst/>
          </a:prstGeom>
          <a:noFill/>
          <a:ln/>
        </p:spPr>
        <p:txBody>
          <a:bodyPr wrap="square" lIns="0" tIns="0" rIns="0" bIns="0" rtlCol="0" anchor="ctr"/>
          <a:lstStyle/>
          <a:p>
            <a:pPr marL="0" indent="0">
              <a:buNone/>
            </a:pPr>
            <a:r>
              <a:rPr lang="en-US" sz="1300" b="1" dirty="0">
                <a:solidFill>
                  <a:srgbClr val="2E6B4F"/>
                </a:solidFill>
                <a:latin typeface="Calibri" pitchFamily="34" charset="0"/>
                <a:ea typeface="Calibri" pitchFamily="34" charset="-122"/>
                <a:cs typeface="Calibri" pitchFamily="34" charset="-120"/>
              </a:rPr>
              <a:t>Is it sensitive to the purge gap?</a:t>
            </a:r>
            <a:endParaRPr lang="en-US" sz="1300" dirty="0"/>
          </a:p>
        </p:txBody>
      </p:sp>
      <p:sp>
        <p:nvSpPr>
          <p:cNvPr id="29" name="Text 27"/>
          <p:cNvSpPr/>
          <p:nvPr/>
        </p:nvSpPr>
        <p:spPr>
          <a:xfrm>
            <a:off x="6309360" y="4425696"/>
            <a:ext cx="5257800" cy="1088136"/>
          </a:xfrm>
          <a:prstGeom prst="rect">
            <a:avLst/>
          </a:prstGeom>
          <a:noFill/>
          <a:ln/>
        </p:spPr>
        <p:txBody>
          <a:bodyPr wrap="square" lIns="0" tIns="0" rIns="0" bIns="0" rtlCol="0" anchor="t"/>
          <a:lstStyle/>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Re-running with a five-row gap instead of one row moves mean fold AUC from 0.5389 to 0.5386.</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The headline does not depend on that methodological choice.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Main Performance Study</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Three model families across three prediction horizons, on common folds</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457200" y="1234440"/>
            <a:ext cx="566928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Nine configurations, identical evaluation</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5669280" cy="1463040"/>
        </p:xfrm>
        <a:graphic>
          <a:graphicData uri="http://schemas.openxmlformats.org/drawingml/2006/table">
            <a:tbl>
              <a:tblPr/>
              <a:tblGrid>
                <a:gridCol w="2377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65760">
                <a:tc>
                  <a:txBody>
                    <a:bodyPr/>
                    <a:lstStyle/>
                    <a:p>
                      <a:pPr marL="0" indent="0">
                        <a:buNone/>
                      </a:pP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1 day</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3 days</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5 days</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65760">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Logistic Regression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XGBoost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6400800" y="1234440"/>
            <a:ext cx="530352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Held constant across all nine</a:t>
            </a:r>
            <a:endParaRPr lang="en-US" sz="1400" dirty="0"/>
          </a:p>
        </p:txBody>
      </p:sp>
      <p:sp>
        <p:nvSpPr>
          <p:cNvPr id="8" name="Text 5"/>
          <p:cNvSpPr/>
          <p:nvPr/>
        </p:nvSpPr>
        <p:spPr>
          <a:xfrm>
            <a:off x="6400800" y="1572768"/>
            <a:ext cx="5303520" cy="164592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Same 36 folds, same test days</a:t>
            </a:r>
            <a:endParaRPr lang="en-US" sz="1250" dirty="0"/>
          </a:p>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Purge gap fixed at 5 days for every cell</a:t>
            </a:r>
            <a:endParaRPr lang="en-US" sz="1250" dirty="0"/>
          </a:p>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Hyperparameters frozen in Section 3.4</a:t>
            </a:r>
            <a:endParaRPr lang="en-US" sz="1250" dirty="0"/>
          </a:p>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Every fold trains from scratch</a:t>
            </a:r>
            <a:endParaRPr lang="en-US" sz="1250" dirty="0"/>
          </a:p>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1 basis point transaction cost</a:t>
            </a:r>
            <a:endParaRPr lang="en-US" sz="1250" dirty="0"/>
          </a:p>
        </p:txBody>
      </p:sp>
      <p:sp>
        <p:nvSpPr>
          <p:cNvPr id="9" name="Shape 6"/>
          <p:cNvSpPr/>
          <p:nvPr/>
        </p:nvSpPr>
        <p:spPr>
          <a:xfrm>
            <a:off x="457200" y="3429000"/>
            <a:ext cx="11247120" cy="960120"/>
          </a:xfrm>
          <a:prstGeom prst="rect">
            <a:avLst/>
          </a:prstGeom>
          <a:solidFill>
            <a:srgbClr val="EEF2F7"/>
          </a:solidFill>
          <a:ln w="9525">
            <a:solidFill>
              <a:srgbClr val="DCE3EC"/>
            </a:solidFill>
            <a:prstDash val="solid"/>
          </a:ln>
        </p:spPr>
        <p:txBody>
          <a:bodyPr/>
          <a:lstStyle/>
          <a:p>
            <a:endParaRPr lang="en-SG"/>
          </a:p>
        </p:txBody>
      </p:sp>
      <p:sp>
        <p:nvSpPr>
          <p:cNvPr id="10" name="Text 7"/>
          <p:cNvSpPr/>
          <p:nvPr/>
        </p:nvSpPr>
        <p:spPr>
          <a:xfrm>
            <a:off x="713232" y="3566160"/>
            <a:ext cx="10735056" cy="68580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The one-hour horizon was not attempted. The scraper did not capture release times, and free intraday price history goes back about two years against the eighteen used here. Recorded as the principal item of further work.</a:t>
            </a:r>
            <a:endParaRPr lang="en-US" sz="1250" dirty="0"/>
          </a:p>
        </p:txBody>
      </p:sp>
      <p:sp>
        <p:nvSpPr>
          <p:cNvPr id="11" name="Shape 8"/>
          <p:cNvSpPr/>
          <p:nvPr/>
        </p:nvSpPr>
        <p:spPr>
          <a:xfrm>
            <a:off x="457200" y="4617720"/>
            <a:ext cx="11247120" cy="1325880"/>
          </a:xfrm>
          <a:prstGeom prst="roundRect">
            <a:avLst>
              <a:gd name="adj" fmla="val 3448"/>
            </a:avLst>
          </a:prstGeom>
          <a:solidFill>
            <a:srgbClr val="FFFFFF"/>
          </a:solidFill>
          <a:ln w="12700">
            <a:solidFill>
              <a:srgbClr val="2E6B4F"/>
            </a:solidFill>
            <a:prstDash val="solid"/>
          </a:ln>
        </p:spPr>
        <p:txBody>
          <a:bodyPr/>
          <a:lstStyle/>
          <a:p>
            <a:endParaRPr lang="en-SG"/>
          </a:p>
        </p:txBody>
      </p:sp>
      <p:sp>
        <p:nvSpPr>
          <p:cNvPr id="6" name="Text 9"/>
          <p:cNvSpPr/>
          <p:nvPr/>
        </p:nvSpPr>
        <p:spPr>
          <a:xfrm>
            <a:off x="594360" y="4727448"/>
            <a:ext cx="10972800" cy="256032"/>
          </a:xfrm>
          <a:prstGeom prst="rect">
            <a:avLst/>
          </a:prstGeom>
          <a:noFill/>
          <a:ln/>
        </p:spPr>
        <p:txBody>
          <a:bodyPr wrap="square" lIns="0" tIns="0" rIns="0" bIns="0" rtlCol="0" anchor="ctr"/>
          <a:lstStyle/>
          <a:p>
            <a:pPr marL="0" indent="0">
              <a:buNone/>
            </a:pPr>
            <a:r>
              <a:rPr lang="en-US" sz="1300" b="1" dirty="0">
                <a:solidFill>
                  <a:srgbClr val="2E6B4F"/>
                </a:solidFill>
                <a:latin typeface="Calibri" pitchFamily="34" charset="0"/>
                <a:ea typeface="Calibri" pitchFamily="34" charset="-122"/>
                <a:cs typeface="Calibri" pitchFamily="34" charset="-120"/>
              </a:rPr>
              <a:t>Why the purge gap is fixed at five days rather than set per horizon</a:t>
            </a:r>
            <a:endParaRPr lang="en-US" sz="1300" dirty="0"/>
          </a:p>
        </p:txBody>
      </p:sp>
      <p:sp>
        <p:nvSpPr>
          <p:cNvPr id="13" name="Text 10"/>
          <p:cNvSpPr/>
          <p:nvPr/>
        </p:nvSpPr>
        <p:spPr>
          <a:xfrm>
            <a:off x="594360" y="5020056"/>
            <a:ext cx="10972800" cy="813816"/>
          </a:xfrm>
          <a:prstGeom prst="rect">
            <a:avLst/>
          </a:prstGeom>
          <a:noFill/>
          <a:ln/>
        </p:spPr>
        <p:txBody>
          <a:bodyPr wrap="square" lIns="0" tIns="0" rIns="0" bIns="0" rtlCol="0" anchor="t"/>
          <a:lstStyle/>
          <a:p>
            <a:pPr marL="0" indent="0">
              <a:lnSpc>
                <a:spcPts val="1400"/>
              </a:lnSpc>
              <a:buNone/>
            </a:pPr>
            <a:r>
              <a:rPr lang="en-US" sz="1200" dirty="0">
                <a:solidFill>
                  <a:srgbClr val="1A1A1A"/>
                </a:solidFill>
                <a:latin typeface="Calibri" pitchFamily="34" charset="0"/>
                <a:ea typeface="Calibri" pitchFamily="34" charset="-122"/>
                <a:cs typeface="Calibri" pitchFamily="34" charset="-120"/>
              </a:rPr>
              <a:t>A gap wider than a horizon strictly requires cannot introduce look-ahead bias. Fixing it at the largest horizon means all nine configurations share identical fold boundaries and identical test days, so the only quantities that vary across the grid are the model family and the horizon.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Accuracy Falls as the Horizon Lengthens</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Mean fold AUC across 36 folds, all three model families</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12</a:t>
            </a:r>
            <a:endParaRPr lang="en-US" sz="1000" dirty="0"/>
          </a:p>
        </p:txBody>
      </p:sp>
      <p:graphicFrame>
        <p:nvGraphicFramePr>
          <p:cNvPr id="5" name="Chart 0"/>
          <p:cNvGraphicFramePr/>
          <p:nvPr/>
        </p:nvGraphicFramePr>
        <p:xfrm>
          <a:off x="457200" y="1234440"/>
          <a:ext cx="67665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7498080" y="1280160"/>
            <a:ext cx="420624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What this establishes</a:t>
            </a:r>
            <a:endParaRPr lang="en-US" sz="1500" dirty="0"/>
          </a:p>
        </p:txBody>
      </p:sp>
      <p:sp>
        <p:nvSpPr>
          <p:cNvPr id="7" name="Text 4"/>
          <p:cNvSpPr/>
          <p:nvPr/>
        </p:nvSpPr>
        <p:spPr>
          <a:xfrm>
            <a:off x="7498080" y="1627632"/>
            <a:ext cx="4206240" cy="329184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Every family is lower at five days than at one. Not a quirk of one learner.</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This is what the event-driven premise predicts: surprises are absorbed within minutes, so a longer target window adds noise, not signal.</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It converts the horizon mismatch from an assumed limitation into a measured one.</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XGBoost falls below random at five days, clearing 0.50 in only 7 of 36 folds — consistent with its 0.88 training AUC.</a:t>
            </a:r>
            <a:endParaRPr lang="en-US" sz="1200" dirty="0"/>
          </a:p>
        </p:txBody>
      </p:sp>
      <p:sp>
        <p:nvSpPr>
          <p:cNvPr id="8" name="Shape 5"/>
          <p:cNvSpPr/>
          <p:nvPr/>
        </p:nvSpPr>
        <p:spPr>
          <a:xfrm>
            <a:off x="457200" y="5486400"/>
            <a:ext cx="11247120" cy="594360"/>
          </a:xfrm>
          <a:prstGeom prst="rect">
            <a:avLst/>
          </a:prstGeom>
          <a:solidFill>
            <a:srgbClr val="EEF2F7"/>
          </a:solidFill>
          <a:ln w="9525">
            <a:solidFill>
              <a:srgbClr val="DCE3EC"/>
            </a:solidFill>
            <a:prstDash val="solid"/>
          </a:ln>
        </p:spPr>
        <p:txBody>
          <a:bodyPr/>
          <a:lstStyle/>
          <a:p>
            <a:endParaRPr lang="en-SG"/>
          </a:p>
        </p:txBody>
      </p:sp>
      <p:sp>
        <p:nvSpPr>
          <p:cNvPr id="9" name="Text 6"/>
          <p:cNvSpPr/>
          <p:nvPr/>
        </p:nvSpPr>
        <p:spPr>
          <a:xfrm>
            <a:off x="713232" y="5623560"/>
            <a:ext cx="10735056" cy="320040"/>
          </a:xfrm>
          <a:prstGeom prst="rect">
            <a:avLst/>
          </a:prstGeom>
          <a:noFill/>
          <a:ln/>
        </p:spPr>
        <p:txBody>
          <a:bodyPr wrap="square" lIns="0" tIns="0" rIns="0" bIns="0" rtlCol="0" anchor="ctr"/>
          <a:lstStyle/>
          <a:p>
            <a:pPr marL="0" indent="0">
              <a:buNone/>
            </a:pPr>
            <a:r>
              <a:rPr lang="en-US" sz="1200" dirty="0">
                <a:solidFill>
                  <a:srgbClr val="5A5A5A"/>
                </a:solidFill>
                <a:latin typeface="Calibri" pitchFamily="34" charset="0"/>
                <a:ea typeface="Calibri" pitchFamily="34" charset="-122"/>
                <a:cs typeface="Calibri" pitchFamily="34" charset="-120"/>
              </a:rPr>
              <a:t>Monotonic for Logistic Regression and XGBoost. Random Forest is flat between one and three days, rising 0.0009 — far inside the fold standard deviation of 0.06 — before falling.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The Result I Want to Qualify Myself</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The strongest trading outcome in the grid, and why it is narrower than it looks</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6766560" cy="1207008"/>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02336">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Strategy</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Net return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Sharpe</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Max drawdown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Buy and Hold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+1.47%</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0.060</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-23.29%</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B&amp;H + LR overlay (1 day)</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+18.81%</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0.379</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6B4F"/>
                          </a:solidFill>
                          <a:latin typeface="Calibri" pitchFamily="34" charset="0"/>
                          <a:ea typeface="Calibri" pitchFamily="34" charset="-122"/>
                          <a:cs typeface="Calibri" pitchFamily="34" charset="-120"/>
                        </a:rPr>
                        <a:t>-9.09%</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Shape 3"/>
          <p:cNvSpPr/>
          <p:nvPr/>
        </p:nvSpPr>
        <p:spPr>
          <a:xfrm>
            <a:off x="7452360" y="1234440"/>
            <a:ext cx="4251960" cy="1554480"/>
          </a:xfrm>
          <a:prstGeom prst="rect">
            <a:avLst/>
          </a:prstGeom>
          <a:solidFill>
            <a:srgbClr val="F2F2F2"/>
          </a:solidFill>
          <a:ln w="15875">
            <a:solidFill>
              <a:srgbClr val="B02418"/>
            </a:solidFill>
            <a:prstDash val="solid"/>
          </a:ln>
        </p:spPr>
        <p:txBody>
          <a:bodyPr/>
          <a:lstStyle/>
          <a:p>
            <a:endParaRPr lang="en-SG"/>
          </a:p>
        </p:txBody>
      </p:sp>
      <p:sp>
        <p:nvSpPr>
          <p:cNvPr id="7" name="Text 4"/>
          <p:cNvSpPr/>
          <p:nvPr/>
        </p:nvSpPr>
        <p:spPr>
          <a:xfrm>
            <a:off x="7680960" y="1389888"/>
            <a:ext cx="3794760" cy="256032"/>
          </a:xfrm>
          <a:prstGeom prst="rect">
            <a:avLst/>
          </a:prstGeom>
          <a:noFill/>
          <a:ln/>
        </p:spPr>
        <p:txBody>
          <a:bodyPr wrap="square" lIns="0" tIns="0" rIns="0" bIns="0" rtlCol="0" anchor="ctr"/>
          <a:lstStyle/>
          <a:p>
            <a:pPr marL="0" indent="0">
              <a:buNone/>
            </a:pPr>
            <a:r>
              <a:rPr lang="en-US" sz="1350" b="1" dirty="0">
                <a:solidFill>
                  <a:srgbClr val="B02418"/>
                </a:solidFill>
                <a:latin typeface="Calibri" pitchFamily="34" charset="0"/>
                <a:ea typeface="Calibri" pitchFamily="34" charset="-122"/>
                <a:cs typeface="Calibri" pitchFamily="34" charset="-120"/>
              </a:rPr>
              <a:t>Before anyone else raises it</a:t>
            </a:r>
            <a:endParaRPr lang="en-US" sz="1350" dirty="0"/>
          </a:p>
        </p:txBody>
      </p:sp>
      <p:sp>
        <p:nvSpPr>
          <p:cNvPr id="8" name="Text 5"/>
          <p:cNvSpPr/>
          <p:nvPr/>
        </p:nvSpPr>
        <p:spPr>
          <a:xfrm>
            <a:off x="7680960" y="1691640"/>
            <a:ext cx="3794760" cy="9601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It beat Buy and Hold in only 20 of 36 folds — a coin flip — and 93% of the total gain came from three folds.</a:t>
            </a:r>
            <a:endParaRPr lang="en-US" sz="1200" dirty="0"/>
          </a:p>
        </p:txBody>
      </p:sp>
      <p:sp>
        <p:nvSpPr>
          <p:cNvPr id="9" name="Text 6"/>
          <p:cNvSpPr/>
          <p:nvPr/>
        </p:nvSpPr>
        <p:spPr>
          <a:xfrm>
            <a:off x="457200" y="2971800"/>
            <a:ext cx="112471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Where the 93% came from</a:t>
            </a:r>
            <a:endParaRPr lang="en-US" sz="15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457200" y="3319272"/>
          <a:ext cx="11247120" cy="1536192"/>
        </p:xfrm>
        <a:graphic>
          <a:graphicData uri="http://schemas.openxmlformats.org/drawingml/2006/table">
            <a:tbl>
              <a:tblPr/>
              <a:tblGrid>
                <a:gridCol w="9144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3474720">
                  <a:extLst>
                    <a:ext uri="{9D8B030D-6E8A-4147-A177-3AD203B41FA5}">
                      <a16:colId xmlns:a16="http://schemas.microsoft.com/office/drawing/2014/main" val="20004"/>
                    </a:ext>
                  </a:extLst>
                </a:gridCol>
              </a:tblGrid>
              <a:tr h="384048">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Fold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Test period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Fold AUC</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Contribution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Predictive skill?</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84048">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7 Sep – 29 Nov 2021</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02418"/>
                          </a:solidFill>
                          <a:latin typeface="Calibri" pitchFamily="34" charset="0"/>
                          <a:ea typeface="Calibri" pitchFamily="34" charset="-122"/>
                          <a:cs typeface="Calibri" pitchFamily="34" charset="-120"/>
                        </a:rPr>
                        <a:t>0.4853</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+3.10 pp</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B02418"/>
                          </a:solidFill>
                          <a:latin typeface="Calibri" pitchFamily="34" charset="0"/>
                          <a:ea typeface="Calibri" pitchFamily="34" charset="-122"/>
                          <a:cs typeface="Calibri" pitchFamily="34" charset="-120"/>
                        </a:rPr>
                        <a:t>Below random</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21</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22 Feb – 16 May 2022</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0.6028</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+5.97 pp</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Present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9 Aug – 31 Oct 2022</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B02418"/>
                          </a:solidFill>
                          <a:latin typeface="Calibri" pitchFamily="34" charset="0"/>
                          <a:ea typeface="Calibri" pitchFamily="34" charset="-122"/>
                          <a:cs typeface="Calibri" pitchFamily="34" charset="-120"/>
                        </a:rPr>
                        <a:t>0.5215</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+4.89 pp</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B02418"/>
                          </a:solidFill>
                          <a:latin typeface="Calibri" pitchFamily="34" charset="0"/>
                          <a:ea typeface="Calibri" pitchFamily="34" charset="-122"/>
                          <a:cs typeface="Calibri" pitchFamily="34" charset="-120"/>
                        </a:rPr>
                        <a:t>Marginal</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7"/>
          <p:cNvSpPr/>
          <p:nvPr/>
        </p:nvSpPr>
        <p:spPr>
          <a:xfrm>
            <a:off x="457200" y="5029200"/>
            <a:ext cx="11247120" cy="1051560"/>
          </a:xfrm>
          <a:prstGeom prst="rect">
            <a:avLst/>
          </a:prstGeom>
          <a:solidFill>
            <a:srgbClr val="EEF2F7"/>
          </a:solidFill>
          <a:ln w="9525">
            <a:solidFill>
              <a:srgbClr val="DCE3EC"/>
            </a:solidFill>
            <a:prstDash val="solid"/>
          </a:ln>
        </p:spPr>
        <p:txBody>
          <a:bodyPr/>
          <a:lstStyle/>
          <a:p>
            <a:endParaRPr lang="en-SG"/>
          </a:p>
        </p:txBody>
      </p:sp>
      <p:sp>
        <p:nvSpPr>
          <p:cNvPr id="12" name="Text 8"/>
          <p:cNvSpPr/>
          <p:nvPr/>
        </p:nvSpPr>
        <p:spPr>
          <a:xfrm>
            <a:off x="713232" y="5166360"/>
            <a:ext cx="10735056" cy="777240"/>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All three sit inside the 2021–22 euro decline, 1.19 through parity to 0.96. In two of the three the model had no predictive skill, so the gain came from holding cash in a falling market — the strategy structure, not the forecasts.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Removing the Last Objection</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Model selection moved inside the walk-forward</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457200" y="1234440"/>
            <a:ext cx="11247120" cy="658368"/>
          </a:xfrm>
          <a:prstGeom prst="rect">
            <a:avLst/>
          </a:prstGeom>
          <a:solidFill>
            <a:srgbClr val="EEF2F7"/>
          </a:solidFill>
          <a:ln w="9525">
            <a:solidFill>
              <a:srgbClr val="DCE3EC"/>
            </a:solidFill>
            <a:prstDash val="solid"/>
          </a:ln>
        </p:spPr>
        <p:txBody>
          <a:bodyPr/>
          <a:lstStyle/>
          <a:p>
            <a:endParaRPr lang="en-SG"/>
          </a:p>
        </p:txBody>
      </p:sp>
      <p:sp>
        <p:nvSpPr>
          <p:cNvPr id="6" name="Text 4"/>
          <p:cNvSpPr/>
          <p:nvPr/>
        </p:nvSpPr>
        <p:spPr>
          <a:xfrm>
            <a:off x="713232" y="1371600"/>
            <a:ext cx="10735056" cy="384048"/>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In each fold:   fit all three families on the inner training window  →  score on the 252-day validation window  →  refit the winner on the full outer window  →  predict the test fold</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6949440" cy="1828800"/>
        </p:xfrm>
        <a:graphic>
          <a:graphicData uri="http://schemas.openxmlformats.org/drawingml/2006/table">
            <a:tbl>
              <a:tblPr/>
              <a:tblGrid>
                <a:gridCol w="28346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65760">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Configuration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Mean AUC</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SD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Above 0.50</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p</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6576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Fixed Logistic Regression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0.5399</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0.0600</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25 / 36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Fixed Random Forest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0.5386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0.0641</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26 / 36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Fixed XGBoost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0.5075</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0.0754</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20 / 36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Nested selection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0.5324</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6B4F"/>
                          </a:solidFill>
                          <a:latin typeface="Calibri" pitchFamily="34" charset="0"/>
                          <a:ea typeface="Calibri" pitchFamily="34" charset="-122"/>
                          <a:cs typeface="Calibri" pitchFamily="34" charset="-120"/>
                        </a:rPr>
                        <a:t>0.0557</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26 / 36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0.000672</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5"/>
          <p:cNvSpPr/>
          <p:nvPr/>
        </p:nvSpPr>
        <p:spPr>
          <a:xfrm>
            <a:off x="7635240" y="2057400"/>
            <a:ext cx="4069080" cy="256032"/>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What it costs, what it buys</a:t>
            </a:r>
            <a:endParaRPr lang="en-US" sz="1400" dirty="0"/>
          </a:p>
        </p:txBody>
      </p:sp>
      <p:sp>
        <p:nvSpPr>
          <p:cNvPr id="9" name="Text 6"/>
          <p:cNvSpPr/>
          <p:nvPr/>
        </p:nvSpPr>
        <p:spPr>
          <a:xfrm>
            <a:off x="7635240" y="2395728"/>
            <a:ext cx="4069080" cy="173736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Mean falls 0.0075. That is the price of removing hindsight.</a:t>
            </a:r>
            <a:endParaRPr lang="en-US" sz="1200" dirty="0"/>
          </a:p>
          <a:p>
            <a:pPr marL="342900" indent="-342900">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Fold SD of 0.0557 is lower than any fixed choice — more consistent, not less.</a:t>
            </a:r>
            <a:endParaRPr lang="en-US" sz="1200" dirty="0"/>
          </a:p>
          <a:p>
            <a:pPr marL="342900" indent="-342900">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p = 0.000672 needs no Bonferroni adjustment: nothing competed for selection before it was produced.</a:t>
            </a:r>
            <a:endParaRPr lang="en-US" sz="1200" dirty="0"/>
          </a:p>
        </p:txBody>
      </p:sp>
      <p:sp>
        <p:nvSpPr>
          <p:cNvPr id="10" name="Shape 7"/>
          <p:cNvSpPr/>
          <p:nvPr/>
        </p:nvSpPr>
        <p:spPr>
          <a:xfrm>
            <a:off x="457200" y="4160520"/>
            <a:ext cx="11247120" cy="1783080"/>
          </a:xfrm>
          <a:prstGeom prst="roundRect">
            <a:avLst>
              <a:gd name="adj" fmla="val 2564"/>
            </a:avLst>
          </a:prstGeom>
          <a:solidFill>
            <a:srgbClr val="FFFFFF"/>
          </a:solidFill>
          <a:ln w="19050">
            <a:solidFill>
              <a:srgbClr val="2E6B4F"/>
            </a:solidFill>
            <a:prstDash val="solid"/>
          </a:ln>
        </p:spPr>
        <p:txBody>
          <a:bodyPr/>
          <a:lstStyle/>
          <a:p>
            <a:endParaRPr lang="en-SG"/>
          </a:p>
        </p:txBody>
      </p:sp>
      <p:sp>
        <p:nvSpPr>
          <p:cNvPr id="11" name="Text 8"/>
          <p:cNvSpPr/>
          <p:nvPr/>
        </p:nvSpPr>
        <p:spPr>
          <a:xfrm>
            <a:off x="594360" y="4270248"/>
            <a:ext cx="10972800" cy="256032"/>
          </a:xfrm>
          <a:prstGeom prst="rect">
            <a:avLst/>
          </a:prstGeom>
          <a:noFill/>
          <a:ln/>
        </p:spPr>
        <p:txBody>
          <a:bodyPr wrap="square" lIns="0" tIns="0" rIns="0" bIns="0" rtlCol="0" anchor="ctr"/>
          <a:lstStyle/>
          <a:p>
            <a:pPr marL="0" indent="0">
              <a:buNone/>
            </a:pPr>
            <a:r>
              <a:rPr lang="en-US" sz="1300" b="1" dirty="0">
                <a:solidFill>
                  <a:srgbClr val="2E6B4F"/>
                </a:solidFill>
                <a:latin typeface="Calibri" pitchFamily="34" charset="0"/>
                <a:ea typeface="Calibri" pitchFamily="34" charset="-122"/>
                <a:cs typeface="Calibri" pitchFamily="34" charset="-120"/>
              </a:rPr>
              <a:t>This removes the "best of nine" objection structurally rather than answering it</a:t>
            </a:r>
            <a:endParaRPr lang="en-US" sz="1300" dirty="0"/>
          </a:p>
        </p:txBody>
      </p:sp>
      <p:sp>
        <p:nvSpPr>
          <p:cNvPr id="12" name="Text 9"/>
          <p:cNvSpPr/>
          <p:nvPr/>
        </p:nvSpPr>
        <p:spPr>
          <a:xfrm>
            <a:off x="594360" y="4562856"/>
            <a:ext cx="10972800" cy="1271016"/>
          </a:xfrm>
          <a:prstGeom prst="rect">
            <a:avLst/>
          </a:prstGeom>
          <a:noFill/>
          <a:ln/>
        </p:spPr>
        <p:txBody>
          <a:bodyPr wrap="square" lIns="0" tIns="0" rIns="0" bIns="0" rtlCol="0" anchor="t"/>
          <a:lstStyle/>
          <a:p>
            <a:pPr marL="0" indent="0">
              <a:lnSpc>
                <a:spcPts val="1400"/>
              </a:lnSpc>
              <a:buNone/>
            </a:pPr>
            <a:r>
              <a:rPr lang="en-US" sz="1250" dirty="0">
                <a:solidFill>
                  <a:srgbClr val="1A1A1A"/>
                </a:solidFill>
                <a:latin typeface="Calibri" pitchFamily="34" charset="0"/>
                <a:ea typeface="Calibri" pitchFamily="34" charset="-122"/>
                <a:cs typeface="Calibri" pitchFamily="34" charset="-120"/>
              </a:rPr>
              <a:t>The grid evaluates nine configurations and then discusses the strongest, so a reader is entitled to ask whether the reported figures carry an upward bias. Here nothing outside the training and validation data influences any decision at any point, so what is reported is the out-of-sample performance of the selection procedure itself rather than of a configuration identified with hindsight.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Which Model, and How It Was Chosen</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The procedure measures indistinguishability rather than asserting it</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949440" cy="1609344"/>
        </p:xfrm>
        <a:graphic>
          <a:graphicData uri="http://schemas.openxmlformats.org/drawingml/2006/table">
            <a:tbl>
              <a:tblPr/>
              <a:tblGrid>
                <a:gridCol w="21031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402336">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Model family</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Folds</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Share</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AUC when selected</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tc>
                  <a:txBody>
                    <a:bodyPr/>
                    <a:lstStyle/>
                    <a:p>
                      <a:pPr marL="0" indent="0" algn="ctr">
                        <a:buNone/>
                      </a:pPr>
                      <a:r>
                        <a:rPr lang="en-US" sz="1150" b="1" dirty="0">
                          <a:solidFill>
                            <a:srgbClr val="1A1A1A"/>
                          </a:solidFill>
                          <a:latin typeface="Calibri" pitchFamily="34" charset="0"/>
                          <a:ea typeface="Calibri" pitchFamily="34" charset="-122"/>
                          <a:cs typeface="Calibri" pitchFamily="34" charset="-120"/>
                        </a:rPr>
                        <a:t>Fixed mean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Logistic Regression</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19 / 36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52.8%</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B02418"/>
                          </a:solidFill>
                          <a:latin typeface="Calibri" pitchFamily="34" charset="0"/>
                          <a:ea typeface="Calibri" pitchFamily="34" charset="-122"/>
                          <a:cs typeface="Calibri" pitchFamily="34" charset="-120"/>
                        </a:rPr>
                        <a:t>0.5302</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0.5399</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11 / 36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30.6%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0.5385</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0.5386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XGBoost</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6 / 36</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16.7%</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E6B4F"/>
                          </a:solidFill>
                          <a:latin typeface="Calibri" pitchFamily="34" charset="0"/>
                          <a:ea typeface="Calibri" pitchFamily="34" charset="-122"/>
                          <a:cs typeface="Calibri" pitchFamily="34" charset="-120"/>
                        </a:rPr>
                        <a:t>0.5279</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0.5075</a:t>
                      </a:r>
                      <a:endParaRPr lang="en-US" sz="115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457200" y="2926080"/>
            <a:ext cx="6949440" cy="914400"/>
          </a:xfrm>
          <a:prstGeom prst="roundRect">
            <a:avLst>
              <a:gd name="adj" fmla="val 5000"/>
            </a:avLst>
          </a:prstGeom>
          <a:solidFill>
            <a:srgbClr val="FFFFFF"/>
          </a:solidFill>
          <a:ln w="12700">
            <a:solidFill>
              <a:srgbClr val="2E5C8A"/>
            </a:solidFill>
            <a:prstDash val="solid"/>
          </a:ln>
        </p:spPr>
        <p:txBody>
          <a:bodyPr/>
          <a:lstStyle/>
          <a:p>
            <a:endParaRPr lang="en-SG"/>
          </a:p>
        </p:txBody>
      </p:sp>
      <p:sp>
        <p:nvSpPr>
          <p:cNvPr id="7" name="Text 4"/>
          <p:cNvSpPr/>
          <p:nvPr/>
        </p:nvSpPr>
        <p:spPr>
          <a:xfrm>
            <a:off x="594360" y="3035808"/>
            <a:ext cx="6675120" cy="256032"/>
          </a:xfrm>
          <a:prstGeom prst="rect">
            <a:avLst/>
          </a:prstGeom>
          <a:noFill/>
          <a:ln/>
        </p:spPr>
        <p:txBody>
          <a:bodyPr wrap="square" lIns="0" tIns="0" rIns="0" bIns="0" rtlCol="0" anchor="ctr"/>
          <a:lstStyle/>
          <a:p>
            <a:pPr marL="0" indent="0">
              <a:buNone/>
            </a:pPr>
            <a:r>
              <a:rPr lang="en-US" sz="1300" b="1" dirty="0">
                <a:solidFill>
                  <a:srgbClr val="2E5C8A"/>
                </a:solidFill>
                <a:latin typeface="Calibri" pitchFamily="34" charset="0"/>
                <a:ea typeface="Calibri" pitchFamily="34" charset="-122"/>
                <a:cs typeface="Calibri" pitchFamily="34" charset="-120"/>
              </a:rPr>
              <a:t>Selection reversed on 16 of 35 transitions</a:t>
            </a:r>
            <a:endParaRPr lang="en-US" sz="1300" dirty="0"/>
          </a:p>
        </p:txBody>
      </p:sp>
      <p:sp>
        <p:nvSpPr>
          <p:cNvPr id="8" name="Text 5"/>
          <p:cNvSpPr/>
          <p:nvPr/>
        </p:nvSpPr>
        <p:spPr>
          <a:xfrm>
            <a:off x="594360" y="3328416"/>
            <a:ext cx="6675120" cy="402336"/>
          </a:xfrm>
          <a:prstGeom prst="rect">
            <a:avLst/>
          </a:prstGeom>
          <a:noFill/>
          <a:ln/>
        </p:spPr>
        <p:txBody>
          <a:bodyPr wrap="square" lIns="0" tIns="0" rIns="0" bIns="0" rtlCol="0" anchor="t"/>
          <a:lstStyle/>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No family holds it for a sustained run. That is a measurement of indistinguishability, not an inference from a small gap.</a:t>
            </a:r>
            <a:endParaRPr lang="en-US" sz="1150" dirty="0"/>
          </a:p>
        </p:txBody>
      </p:sp>
      <p:sp>
        <p:nvSpPr>
          <p:cNvPr id="9" name="Shape 6"/>
          <p:cNvSpPr/>
          <p:nvPr/>
        </p:nvSpPr>
        <p:spPr>
          <a:xfrm>
            <a:off x="457200" y="3977640"/>
            <a:ext cx="6949440" cy="1417320"/>
          </a:xfrm>
          <a:prstGeom prst="roundRect">
            <a:avLst>
              <a:gd name="adj" fmla="val 3226"/>
            </a:avLst>
          </a:prstGeom>
          <a:solidFill>
            <a:srgbClr val="FFFFFF"/>
          </a:solidFill>
          <a:ln w="12700">
            <a:solidFill>
              <a:srgbClr val="B4B4B4"/>
            </a:solidFill>
            <a:prstDash val="solid"/>
          </a:ln>
        </p:spPr>
        <p:txBody>
          <a:bodyPr/>
          <a:lstStyle/>
          <a:p>
            <a:endParaRPr lang="en-SG"/>
          </a:p>
        </p:txBody>
      </p:sp>
      <p:sp>
        <p:nvSpPr>
          <p:cNvPr id="10" name="Text 7"/>
          <p:cNvSpPr/>
          <p:nvPr/>
        </p:nvSpPr>
        <p:spPr>
          <a:xfrm>
            <a:off x="594360" y="4087368"/>
            <a:ext cx="667512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And the rule adds no forecasting skill</a:t>
            </a:r>
            <a:endParaRPr lang="en-US" sz="1300" dirty="0"/>
          </a:p>
        </p:txBody>
      </p:sp>
      <p:sp>
        <p:nvSpPr>
          <p:cNvPr id="11" name="Text 8"/>
          <p:cNvSpPr/>
          <p:nvPr/>
        </p:nvSpPr>
        <p:spPr>
          <a:xfrm>
            <a:off x="594360" y="4379976"/>
            <a:ext cx="6675120" cy="905256"/>
          </a:xfrm>
          <a:prstGeom prst="rect">
            <a:avLst/>
          </a:prstGeom>
          <a:noFill/>
          <a:ln/>
        </p:spPr>
        <p:txBody>
          <a:bodyPr wrap="square" lIns="0" tIns="0" rIns="0" bIns="0" rtlCol="0" anchor="t"/>
          <a:lstStyle/>
          <a:p>
            <a:pPr marL="0" indent="0">
              <a:lnSpc>
                <a:spcPts val="1400"/>
              </a:lnSpc>
              <a:buNone/>
            </a:pPr>
            <a:r>
              <a:rPr lang="en-US" sz="1150" dirty="0">
                <a:solidFill>
                  <a:srgbClr val="1A1A1A"/>
                </a:solidFill>
                <a:latin typeface="Calibri" pitchFamily="34" charset="0"/>
                <a:ea typeface="Calibri" pitchFamily="34" charset="-122"/>
                <a:cs typeface="Calibri" pitchFamily="34" charset="-120"/>
              </a:rPr>
              <a:t>If the validation window predicted which family would do better next, each should beat its own fixed average when selected. Only XGBoost does. The rule avoids the worst commitment rather than picking winners — which is what you expect when the families differ by less than the noise.</a:t>
            </a:r>
            <a:endParaRPr lang="en-US" sz="1150" dirty="0"/>
          </a:p>
        </p:txBody>
      </p:sp>
      <p:sp>
        <p:nvSpPr>
          <p:cNvPr id="12" name="Shape 9"/>
          <p:cNvSpPr/>
          <p:nvPr/>
        </p:nvSpPr>
        <p:spPr>
          <a:xfrm>
            <a:off x="7635240" y="1280160"/>
            <a:ext cx="4069080" cy="4114800"/>
          </a:xfrm>
          <a:prstGeom prst="rect">
            <a:avLst/>
          </a:prstGeom>
          <a:solidFill>
            <a:srgbClr val="EAF1EA"/>
          </a:solidFill>
          <a:ln w="19050">
            <a:solidFill>
              <a:srgbClr val="2E6B4F"/>
            </a:solidFill>
            <a:prstDash val="solid"/>
          </a:ln>
        </p:spPr>
        <p:txBody>
          <a:bodyPr/>
          <a:lstStyle/>
          <a:p>
            <a:endParaRPr lang="en-SG"/>
          </a:p>
        </p:txBody>
      </p:sp>
      <p:sp>
        <p:nvSpPr>
          <p:cNvPr id="13" name="Text 10"/>
          <p:cNvSpPr/>
          <p:nvPr/>
        </p:nvSpPr>
        <p:spPr>
          <a:xfrm>
            <a:off x="7863840" y="1463040"/>
            <a:ext cx="3611880" cy="274320"/>
          </a:xfrm>
          <a:prstGeom prst="rect">
            <a:avLst/>
          </a:prstGeom>
          <a:noFill/>
          <a:ln/>
        </p:spPr>
        <p:txBody>
          <a:bodyPr wrap="square" lIns="0" tIns="0" rIns="0" bIns="0" rtlCol="0" anchor="ctr"/>
          <a:lstStyle/>
          <a:p>
            <a:pPr marL="0" indent="0">
              <a:buNone/>
            </a:pPr>
            <a:r>
              <a:rPr lang="en-US" sz="1500" b="1" dirty="0">
                <a:solidFill>
                  <a:srgbClr val="2E6B4F"/>
                </a:solidFill>
                <a:latin typeface="Calibri" pitchFamily="34" charset="0"/>
                <a:ea typeface="Calibri" pitchFamily="34" charset="-122"/>
                <a:cs typeface="Calibri" pitchFamily="34" charset="-120"/>
              </a:rPr>
              <a:t>Deployment</a:t>
            </a:r>
            <a:endParaRPr lang="en-US" sz="1500" dirty="0"/>
          </a:p>
        </p:txBody>
      </p:sp>
      <p:sp>
        <p:nvSpPr>
          <p:cNvPr id="14" name="Text 11"/>
          <p:cNvSpPr/>
          <p:nvPr/>
        </p:nvSpPr>
        <p:spPr>
          <a:xfrm>
            <a:off x="7863840" y="1783080"/>
            <a:ext cx="3611880" cy="45720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The same rule, applied to the most recent validation window:</a:t>
            </a:r>
            <a:endParaRPr lang="en-US" sz="12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7863840" y="2286000"/>
          <a:ext cx="3611880" cy="1042416"/>
        </p:xfrm>
        <a:graphic>
          <a:graphicData uri="http://schemas.openxmlformats.org/drawingml/2006/table">
            <a:tbl>
              <a:tblPr/>
              <a:tblGrid>
                <a:gridCol w="2331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347472">
                <a:tc>
                  <a:txBody>
                    <a:bodyPr/>
                    <a:lstStyle/>
                    <a:p>
                      <a:pPr marL="0" indent="0">
                        <a:buNone/>
                      </a:pPr>
                      <a:r>
                        <a:rPr lang="en-US" sz="1200" b="1" dirty="0">
                          <a:solidFill>
                            <a:srgbClr val="1A1A1A"/>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A1A1A"/>
                          </a:solidFill>
                          <a:latin typeface="Calibri" pitchFamily="34" charset="0"/>
                          <a:ea typeface="Calibri" pitchFamily="34" charset="-122"/>
                          <a:cs typeface="Calibri" pitchFamily="34" charset="-120"/>
                        </a:rPr>
                        <a:t>0.5709</a:t>
                      </a:r>
                      <a:endParaRPr lang="en-US" sz="12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0.5677</a:t>
                      </a:r>
                      <a:endParaRPr lang="en-US" sz="12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XGBoost</a:t>
                      </a:r>
                      <a:endParaRPr lang="en-US" sz="12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0.5140</a:t>
                      </a:r>
                      <a:endParaRPr lang="en-US" sz="1200" dirty="0">
                        <a:latin typeface="Calibri" charset="0"/>
                        <a:ea typeface="Calibri" charset="0"/>
                        <a:cs typeface="Calibri" charset="0"/>
                      </a:endParaRPr>
                    </a:p>
                  </a:txBody>
                  <a:tcP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Text 12"/>
          <p:cNvSpPr/>
          <p:nvPr/>
        </p:nvSpPr>
        <p:spPr>
          <a:xfrm>
            <a:off x="7863840" y="3520440"/>
            <a:ext cx="3611880" cy="274320"/>
          </a:xfrm>
          <a:prstGeom prst="rect">
            <a:avLst/>
          </a:prstGeom>
          <a:noFill/>
          <a:ln/>
        </p:spPr>
        <p:txBody>
          <a:bodyPr wrap="square" lIns="0" tIns="0" rIns="0" bIns="0" rtlCol="0" anchor="ctr"/>
          <a:lstStyle/>
          <a:p>
            <a:pPr marL="0" indent="0">
              <a:buNone/>
            </a:pPr>
            <a:r>
              <a:rPr lang="en-US" sz="1250" b="1" dirty="0">
                <a:solidFill>
                  <a:srgbClr val="2E6B4F"/>
                </a:solidFill>
                <a:latin typeface="Calibri" pitchFamily="34" charset="0"/>
                <a:ea typeface="Calibri" pitchFamily="34" charset="-122"/>
                <a:cs typeface="Calibri" pitchFamily="34" charset="-120"/>
              </a:rPr>
              <a:t>Random Forest deployed.  Margin 0.0032.</a:t>
            </a:r>
            <a:endParaRPr lang="en-US" sz="1250" dirty="0"/>
          </a:p>
        </p:txBody>
      </p:sp>
      <p:sp>
        <p:nvSpPr>
          <p:cNvPr id="17" name="Text 13"/>
          <p:cNvSpPr/>
          <p:nvPr/>
        </p:nvSpPr>
        <p:spPr>
          <a:xfrm>
            <a:off x="7863840" y="3886200"/>
            <a:ext cx="3611880" cy="1371600"/>
          </a:xfrm>
          <a:prstGeom prst="rect">
            <a:avLst/>
          </a:prstGeom>
          <a:noFill/>
          <a:ln/>
        </p:spPr>
        <p:txBody>
          <a:bodyPr wrap="square" lIns="0" tIns="0" rIns="0" bIns="0" rtlCol="0" anchor="t"/>
          <a:lstStyle/>
          <a:p>
            <a:pPr marL="0" indent="0">
              <a:buNone/>
            </a:pPr>
            <a:r>
              <a:rPr lang="en-US" sz="1150" dirty="0">
                <a:solidFill>
                  <a:srgbClr val="1A1A1A"/>
                </a:solidFill>
                <a:latin typeface="Calibri" pitchFamily="34" charset="0"/>
                <a:ea typeface="Calibri" pitchFamily="34" charset="-122"/>
                <a:cs typeface="Calibri" pitchFamily="34" charset="-120"/>
              </a:rPr>
              <a:t>The pickle, the dashboard, the report and the selection rule now all agree.</a:t>
            </a:r>
            <a:endParaRPr lang="en-US" sz="1150" dirty="0"/>
          </a:p>
          <a:p>
            <a:pPr marL="0" indent="0">
              <a:buNone/>
            </a:pP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These validation AUCs are optimistically biased by construction. The out-of-sample figure is 0.5324.</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What the Model Is Using</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Three methods, three different questions</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457200" y="1280160"/>
            <a:ext cx="3611880" cy="2880360"/>
          </a:xfrm>
          <a:prstGeom prst="roundRect">
            <a:avLst>
              <a:gd name="adj" fmla="val 1587"/>
            </a:avLst>
          </a:prstGeom>
          <a:solidFill>
            <a:srgbClr val="FFFFFF"/>
          </a:solidFill>
          <a:ln w="12700">
            <a:solidFill>
              <a:srgbClr val="B4B4B4"/>
            </a:solidFill>
            <a:prstDash val="solid"/>
          </a:ln>
        </p:spPr>
        <p:txBody>
          <a:bodyPr/>
          <a:lstStyle/>
          <a:p>
            <a:endParaRPr lang="en-SG"/>
          </a:p>
        </p:txBody>
      </p:sp>
      <p:sp>
        <p:nvSpPr>
          <p:cNvPr id="6" name="Text 4"/>
          <p:cNvSpPr/>
          <p:nvPr/>
        </p:nvSpPr>
        <p:spPr>
          <a:xfrm>
            <a:off x="594360" y="1389888"/>
            <a:ext cx="333756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Permutation importance</a:t>
            </a:r>
            <a:endParaRPr lang="en-US" sz="1300" dirty="0"/>
          </a:p>
        </p:txBody>
      </p:sp>
      <p:sp>
        <p:nvSpPr>
          <p:cNvPr id="7" name="Text 5"/>
          <p:cNvSpPr/>
          <p:nvPr/>
        </p:nvSpPr>
        <p:spPr>
          <a:xfrm>
            <a:off x="594360" y="1682496"/>
            <a:ext cx="3337560" cy="2368296"/>
          </a:xfrm>
          <a:prstGeom prst="rect">
            <a:avLst/>
          </a:prstGeom>
          <a:noFill/>
          <a:ln/>
        </p:spPr>
        <p:txBody>
          <a:bodyPr wrap="square" lIns="0" tIns="0" rIns="0" bIns="0" rtlCol="0" anchor="t"/>
          <a:lstStyle/>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Which individual columns matter when shuffled?</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Top: r5d, r7d, price_pct_14d, mom5, r1d. Market-context variables lead; days_since_event is the highest event feature.</a:t>
            </a:r>
            <a:endParaRPr lang="en-US" sz="1100" dirty="0"/>
          </a:p>
        </p:txBody>
      </p:sp>
      <p:sp>
        <p:nvSpPr>
          <p:cNvPr id="8" name="Shape 6"/>
          <p:cNvSpPr/>
          <p:nvPr/>
        </p:nvSpPr>
        <p:spPr>
          <a:xfrm>
            <a:off x="4251960" y="1280160"/>
            <a:ext cx="3611880" cy="2880360"/>
          </a:xfrm>
          <a:prstGeom prst="roundRect">
            <a:avLst>
              <a:gd name="adj" fmla="val 1587"/>
            </a:avLst>
          </a:prstGeom>
          <a:solidFill>
            <a:srgbClr val="FFFFFF"/>
          </a:solidFill>
          <a:ln w="12700">
            <a:solidFill>
              <a:srgbClr val="B4B4B4"/>
            </a:solidFill>
            <a:prstDash val="solid"/>
          </a:ln>
        </p:spPr>
        <p:txBody>
          <a:bodyPr/>
          <a:lstStyle/>
          <a:p>
            <a:endParaRPr lang="en-SG"/>
          </a:p>
        </p:txBody>
      </p:sp>
      <p:sp>
        <p:nvSpPr>
          <p:cNvPr id="9" name="Text 7"/>
          <p:cNvSpPr/>
          <p:nvPr/>
        </p:nvSpPr>
        <p:spPr>
          <a:xfrm>
            <a:off x="4389120" y="1389888"/>
            <a:ext cx="333756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SHAP</a:t>
            </a:r>
            <a:endParaRPr lang="en-US" sz="1300" dirty="0"/>
          </a:p>
        </p:txBody>
      </p:sp>
      <p:sp>
        <p:nvSpPr>
          <p:cNvPr id="10" name="Text 8"/>
          <p:cNvSpPr/>
          <p:nvPr/>
        </p:nvSpPr>
        <p:spPr>
          <a:xfrm>
            <a:off x="4389120" y="1682496"/>
            <a:ext cx="3337560" cy="2368296"/>
          </a:xfrm>
          <a:prstGeom prst="rect">
            <a:avLst/>
          </a:prstGeom>
          <a:noFill/>
          <a:ln/>
        </p:spPr>
        <p:txBody>
          <a:bodyPr wrap="square" lIns="0" tIns="0" rIns="0" bIns="0" rtlCol="0" anchor="t"/>
          <a:lstStyle/>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How much does each feature contribute to individual predictions?</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Top: price_pct_14d, r7d, r1d, cpi_surprise_pct. Prediction-level contribution, not proof of out-of-sample value.</a:t>
            </a:r>
            <a:endParaRPr lang="en-US" sz="1100" dirty="0"/>
          </a:p>
        </p:txBody>
      </p:sp>
      <p:sp>
        <p:nvSpPr>
          <p:cNvPr id="11" name="Shape 9"/>
          <p:cNvSpPr/>
          <p:nvPr/>
        </p:nvSpPr>
        <p:spPr>
          <a:xfrm>
            <a:off x="8046720" y="1280160"/>
            <a:ext cx="3611880" cy="2880360"/>
          </a:xfrm>
          <a:prstGeom prst="roundRect">
            <a:avLst>
              <a:gd name="adj" fmla="val 1587"/>
            </a:avLst>
          </a:prstGeom>
          <a:solidFill>
            <a:srgbClr val="FFFFFF"/>
          </a:solidFill>
          <a:ln w="12700">
            <a:solidFill>
              <a:srgbClr val="2E6B4F"/>
            </a:solidFill>
            <a:prstDash val="solid"/>
          </a:ln>
        </p:spPr>
        <p:txBody>
          <a:bodyPr/>
          <a:lstStyle/>
          <a:p>
            <a:endParaRPr lang="en-SG"/>
          </a:p>
        </p:txBody>
      </p:sp>
      <p:sp>
        <p:nvSpPr>
          <p:cNvPr id="12" name="Text 10"/>
          <p:cNvSpPr/>
          <p:nvPr/>
        </p:nvSpPr>
        <p:spPr>
          <a:xfrm>
            <a:off x="8183880" y="1389888"/>
            <a:ext cx="3337560" cy="256032"/>
          </a:xfrm>
          <a:prstGeom prst="rect">
            <a:avLst/>
          </a:prstGeom>
          <a:noFill/>
          <a:ln/>
        </p:spPr>
        <p:txBody>
          <a:bodyPr wrap="square" lIns="0" tIns="0" rIns="0" bIns="0" rtlCol="0" anchor="ctr"/>
          <a:lstStyle/>
          <a:p>
            <a:pPr marL="0" indent="0">
              <a:buNone/>
            </a:pPr>
            <a:r>
              <a:rPr lang="en-US" sz="1300" b="1" dirty="0">
                <a:solidFill>
                  <a:srgbClr val="2E6B4F"/>
                </a:solidFill>
                <a:latin typeface="Calibri" pitchFamily="34" charset="0"/>
                <a:ea typeface="Calibri" pitchFamily="34" charset="-122"/>
                <a:cs typeface="Calibri" pitchFamily="34" charset="-120"/>
              </a:rPr>
              <a:t>Feature-set ablation</a:t>
            </a:r>
            <a:endParaRPr lang="en-US" sz="1300" dirty="0"/>
          </a:p>
        </p:txBody>
      </p:sp>
      <p:sp>
        <p:nvSpPr>
          <p:cNvPr id="13" name="Text 11"/>
          <p:cNvSpPr/>
          <p:nvPr/>
        </p:nvSpPr>
        <p:spPr>
          <a:xfrm>
            <a:off x="8183880" y="1682496"/>
            <a:ext cx="3337560" cy="2368296"/>
          </a:xfrm>
          <a:prstGeom prst="rect">
            <a:avLst/>
          </a:prstGeom>
          <a:noFill/>
          <a:ln/>
        </p:spPr>
        <p:txBody>
          <a:bodyPr wrap="square" lIns="0" tIns="0" rIns="0" bIns="0" rtlCol="0" anchor="t"/>
          <a:lstStyle/>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Does a whole family add value when the model is retrained without it?</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Event family contributes +0.0176 at p = 0.0041. Significant at the group level.</a:t>
            </a:r>
            <a:endParaRPr lang="en-US" sz="1100" dirty="0"/>
          </a:p>
        </p:txBody>
      </p:sp>
      <p:sp>
        <p:nvSpPr>
          <p:cNvPr id="14" name="Shape 12"/>
          <p:cNvSpPr/>
          <p:nvPr/>
        </p:nvSpPr>
        <p:spPr>
          <a:xfrm>
            <a:off x="457200" y="4389120"/>
            <a:ext cx="11247120" cy="1554480"/>
          </a:xfrm>
          <a:prstGeom prst="rect">
            <a:avLst/>
          </a:prstGeom>
          <a:solidFill>
            <a:srgbClr val="EEF2F7"/>
          </a:solidFill>
          <a:ln w="9525">
            <a:solidFill>
              <a:srgbClr val="DCE3EC"/>
            </a:solidFill>
            <a:prstDash val="solid"/>
          </a:ln>
        </p:spPr>
        <p:txBody>
          <a:bodyPr/>
          <a:lstStyle/>
          <a:p>
            <a:endParaRPr lang="en-SG"/>
          </a:p>
        </p:txBody>
      </p:sp>
      <p:sp>
        <p:nvSpPr>
          <p:cNvPr id="15" name="Text 13"/>
          <p:cNvSpPr/>
          <p:nvPr/>
        </p:nvSpPr>
        <p:spPr>
          <a:xfrm>
            <a:off x="713232" y="4526280"/>
            <a:ext cx="10735056" cy="1280160"/>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These need not agree, and the fact that they do not is informative. Market-context variables carry more weight individually, while the event family shows a significant group-level contribution. Both are true: they answer different questions. Reporting only the one that flatters the project would be the mistake.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The Delivered System</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Streamlit dashboard, live against the ForexFactory calendar</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457200" y="1280160"/>
            <a:ext cx="3566160" cy="2194560"/>
          </a:xfrm>
          <a:prstGeom prst="roundRect">
            <a:avLst>
              <a:gd name="adj" fmla="val 2083"/>
            </a:avLst>
          </a:prstGeom>
          <a:solidFill>
            <a:srgbClr val="FFFFFF"/>
          </a:solidFill>
          <a:ln w="12700">
            <a:solidFill>
              <a:srgbClr val="B4B4B4"/>
            </a:solidFill>
            <a:prstDash val="solid"/>
          </a:ln>
        </p:spPr>
        <p:txBody>
          <a:bodyPr/>
          <a:lstStyle/>
          <a:p>
            <a:endParaRPr lang="en-SG"/>
          </a:p>
        </p:txBody>
      </p:sp>
      <p:sp>
        <p:nvSpPr>
          <p:cNvPr id="6" name="Text 4"/>
          <p:cNvSpPr/>
          <p:nvPr/>
        </p:nvSpPr>
        <p:spPr>
          <a:xfrm>
            <a:off x="594360" y="1389888"/>
            <a:ext cx="329184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Data path</a:t>
            </a:r>
            <a:endParaRPr lang="en-US" sz="1300" dirty="0"/>
          </a:p>
        </p:txBody>
      </p:sp>
      <p:sp>
        <p:nvSpPr>
          <p:cNvPr id="7" name="Text 5"/>
          <p:cNvSpPr/>
          <p:nvPr/>
        </p:nvSpPr>
        <p:spPr>
          <a:xfrm>
            <a:off x="594360" y="1682496"/>
            <a:ext cx="3291840" cy="1682496"/>
          </a:xfrm>
          <a:prstGeom prst="rect">
            <a:avLst/>
          </a:prstGeom>
          <a:noFill/>
          <a:ln/>
        </p:spPr>
        <p:txBody>
          <a:bodyPr wrap="square" lIns="0" tIns="0" rIns="0" bIns="0" rtlCol="0" anchor="t"/>
          <a:lstStyle/>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GitHub Actions scrapes the calendar on a schedule and commits six event CSVs.</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Prices pulled live from yfinance at inference time.</a:t>
            </a:r>
            <a:endParaRPr lang="en-US" sz="1100" dirty="0"/>
          </a:p>
        </p:txBody>
      </p:sp>
      <p:sp>
        <p:nvSpPr>
          <p:cNvPr id="8" name="Shape 6"/>
          <p:cNvSpPr/>
          <p:nvPr/>
        </p:nvSpPr>
        <p:spPr>
          <a:xfrm>
            <a:off x="4251960" y="1280160"/>
            <a:ext cx="3566160" cy="2194560"/>
          </a:xfrm>
          <a:prstGeom prst="roundRect">
            <a:avLst>
              <a:gd name="adj" fmla="val 2083"/>
            </a:avLst>
          </a:prstGeom>
          <a:solidFill>
            <a:srgbClr val="FFFFFF"/>
          </a:solidFill>
          <a:ln w="19050">
            <a:solidFill>
              <a:srgbClr val="2E6B4F"/>
            </a:solidFill>
            <a:prstDash val="solid"/>
          </a:ln>
        </p:spPr>
        <p:txBody>
          <a:bodyPr/>
          <a:lstStyle/>
          <a:p>
            <a:endParaRPr lang="en-SG"/>
          </a:p>
        </p:txBody>
      </p:sp>
      <p:sp>
        <p:nvSpPr>
          <p:cNvPr id="9" name="Text 7"/>
          <p:cNvSpPr/>
          <p:nvPr/>
        </p:nvSpPr>
        <p:spPr>
          <a:xfrm>
            <a:off x="4389120" y="1389888"/>
            <a:ext cx="3291840" cy="256032"/>
          </a:xfrm>
          <a:prstGeom prst="rect">
            <a:avLst/>
          </a:prstGeom>
          <a:noFill/>
          <a:ln/>
        </p:spPr>
        <p:txBody>
          <a:bodyPr wrap="square" lIns="0" tIns="0" rIns="0" bIns="0" rtlCol="0" anchor="ctr"/>
          <a:lstStyle/>
          <a:p>
            <a:pPr marL="0" indent="0">
              <a:buNone/>
            </a:pPr>
            <a:r>
              <a:rPr lang="en-US" sz="1300" b="1" dirty="0">
                <a:solidFill>
                  <a:srgbClr val="2E6B4F"/>
                </a:solidFill>
                <a:latin typeface="Calibri" pitchFamily="34" charset="0"/>
                <a:ea typeface="Calibri" pitchFamily="34" charset="-122"/>
                <a:cs typeface="Calibri" pitchFamily="34" charset="-120"/>
              </a:rPr>
              <a:t>Shared feature builder</a:t>
            </a:r>
            <a:endParaRPr lang="en-US" sz="1300" dirty="0"/>
          </a:p>
        </p:txBody>
      </p:sp>
      <p:sp>
        <p:nvSpPr>
          <p:cNvPr id="10" name="Text 8"/>
          <p:cNvSpPr/>
          <p:nvPr/>
        </p:nvSpPr>
        <p:spPr>
          <a:xfrm>
            <a:off x="4389120" y="1682496"/>
            <a:ext cx="3291840" cy="1682496"/>
          </a:xfrm>
          <a:prstGeom prst="rect">
            <a:avLst/>
          </a:prstGeom>
          <a:noFill/>
          <a:ln/>
        </p:spPr>
        <p:txBody>
          <a:bodyPr wrap="square" lIns="0" tIns="0" rIns="0" bIns="0" rtlCol="0" anchor="t"/>
          <a:lstStyle/>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The same 48-feature construction code runs offline in training and live in serving.</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That is what removes train-serve skew — it is one implementation, not two.</a:t>
            </a:r>
            <a:endParaRPr lang="en-US" sz="1100" dirty="0"/>
          </a:p>
        </p:txBody>
      </p:sp>
      <p:sp>
        <p:nvSpPr>
          <p:cNvPr id="11" name="Shape 9"/>
          <p:cNvSpPr/>
          <p:nvPr/>
        </p:nvSpPr>
        <p:spPr>
          <a:xfrm>
            <a:off x="8046720" y="1280160"/>
            <a:ext cx="3657600" cy="2194560"/>
          </a:xfrm>
          <a:prstGeom prst="roundRect">
            <a:avLst>
              <a:gd name="adj" fmla="val 2083"/>
            </a:avLst>
          </a:prstGeom>
          <a:solidFill>
            <a:srgbClr val="FFFFFF"/>
          </a:solidFill>
          <a:ln w="12700">
            <a:solidFill>
              <a:srgbClr val="2E5C8A"/>
            </a:solidFill>
            <a:prstDash val="solid"/>
          </a:ln>
        </p:spPr>
        <p:txBody>
          <a:bodyPr/>
          <a:lstStyle/>
          <a:p>
            <a:endParaRPr lang="en-SG"/>
          </a:p>
        </p:txBody>
      </p:sp>
      <p:sp>
        <p:nvSpPr>
          <p:cNvPr id="12" name="Text 10"/>
          <p:cNvSpPr/>
          <p:nvPr/>
        </p:nvSpPr>
        <p:spPr>
          <a:xfrm>
            <a:off x="8183880" y="1389888"/>
            <a:ext cx="3383280" cy="256032"/>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Signal</a:t>
            </a:r>
            <a:endParaRPr lang="en-US" sz="1300" dirty="0"/>
          </a:p>
        </p:txBody>
      </p:sp>
      <p:sp>
        <p:nvSpPr>
          <p:cNvPr id="13" name="Text 11"/>
          <p:cNvSpPr/>
          <p:nvPr/>
        </p:nvSpPr>
        <p:spPr>
          <a:xfrm>
            <a:off x="8183880" y="1682496"/>
            <a:ext cx="3383280" cy="1682496"/>
          </a:xfrm>
          <a:prstGeom prst="rect">
            <a:avLst/>
          </a:prstGeom>
          <a:noFill/>
          <a:ln/>
        </p:spPr>
        <p:txBody>
          <a:bodyPr wrap="square" lIns="0" tIns="0" rIns="0" bIns="0" rtlCol="0" anchor="t"/>
          <a:lstStyle/>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Saved Random Forest pipeline outputs P(UP).</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BUY at ≥ 0.52, SELL at ≤ 0.48, HOLD between — the validation-selected thresholds.</a:t>
            </a:r>
            <a:endParaRPr lang="en-US" sz="1100" dirty="0"/>
          </a:p>
          <a:p>
            <a:pPr marL="0" indent="0">
              <a:lnSpc>
                <a:spcPts val="1400"/>
              </a:lnSpc>
              <a:buNone/>
            </a:pPr>
            <a:endParaRPr lang="en-US" sz="1100" dirty="0"/>
          </a:p>
          <a:p>
            <a:pPr marL="0" indent="0">
              <a:lnSpc>
                <a:spcPts val="1400"/>
              </a:lnSpc>
              <a:buNone/>
            </a:pPr>
            <a:r>
              <a:rPr lang="en-US" sz="1100" dirty="0">
                <a:solidFill>
                  <a:srgbClr val="1A1A1A"/>
                </a:solidFill>
                <a:latin typeface="Calibri" pitchFamily="34" charset="0"/>
                <a:ea typeface="Calibri" pitchFamily="34" charset="-122"/>
                <a:cs typeface="Calibri" pitchFamily="34" charset="-120"/>
              </a:rPr>
              <a:t>Every signal is logged.</a:t>
            </a:r>
            <a:endParaRPr lang="en-US" sz="1100" dirty="0"/>
          </a:p>
        </p:txBody>
      </p:sp>
      <p:sp>
        <p:nvSpPr>
          <p:cNvPr id="14" name="Text 12"/>
          <p:cNvSpPr/>
          <p:nvPr/>
        </p:nvSpPr>
        <p:spPr>
          <a:xfrm>
            <a:off x="457200" y="3703320"/>
            <a:ext cx="11247120" cy="27432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Five pages</a:t>
            </a:r>
            <a:endParaRPr lang="en-US" sz="1500" dirty="0"/>
          </a:p>
        </p:txBody>
      </p:sp>
      <p:sp>
        <p:nvSpPr>
          <p:cNvPr id="15" name="Shape 13"/>
          <p:cNvSpPr/>
          <p:nvPr/>
        </p:nvSpPr>
        <p:spPr>
          <a:xfrm>
            <a:off x="457200" y="4069080"/>
            <a:ext cx="2103120" cy="566928"/>
          </a:xfrm>
          <a:prstGeom prst="roundRect">
            <a:avLst>
              <a:gd name="adj" fmla="val 8065"/>
            </a:avLst>
          </a:prstGeom>
          <a:solidFill>
            <a:srgbClr val="EEF2F7"/>
          </a:solidFill>
          <a:ln w="9525">
            <a:solidFill>
              <a:srgbClr val="DCE3EC"/>
            </a:solidFill>
            <a:prstDash val="solid"/>
          </a:ln>
        </p:spPr>
        <p:txBody>
          <a:bodyPr/>
          <a:lstStyle/>
          <a:p>
            <a:endParaRPr lang="en-SG"/>
          </a:p>
        </p:txBody>
      </p:sp>
      <p:sp>
        <p:nvSpPr>
          <p:cNvPr id="16" name="Text 14"/>
          <p:cNvSpPr/>
          <p:nvPr/>
        </p:nvSpPr>
        <p:spPr>
          <a:xfrm>
            <a:off x="548640" y="4206240"/>
            <a:ext cx="1920240" cy="292608"/>
          </a:xfrm>
          <a:prstGeom prst="rect">
            <a:avLst/>
          </a:prstGeom>
          <a:noFill/>
          <a:ln/>
        </p:spPr>
        <p:txBody>
          <a:bodyPr wrap="square" lIns="0" tIns="0" rIns="0" bIns="0" rtlCol="0" anchor="ctr"/>
          <a:lstStyle/>
          <a:p>
            <a:pPr marL="0" indent="0" algn="ctr">
              <a:buNone/>
            </a:pPr>
            <a:r>
              <a:rPr lang="en-US" sz="1150" b="1" dirty="0">
                <a:solidFill>
                  <a:srgbClr val="1F3864"/>
                </a:solidFill>
                <a:latin typeface="Calibri" pitchFamily="34" charset="0"/>
                <a:ea typeface="Calibri" pitchFamily="34" charset="-122"/>
                <a:cs typeface="Calibri" pitchFamily="34" charset="-120"/>
              </a:rPr>
              <a:t>Event Calendar</a:t>
            </a:r>
            <a:endParaRPr lang="en-US" sz="1150" dirty="0"/>
          </a:p>
        </p:txBody>
      </p:sp>
      <p:sp>
        <p:nvSpPr>
          <p:cNvPr id="17" name="Shape 15"/>
          <p:cNvSpPr/>
          <p:nvPr/>
        </p:nvSpPr>
        <p:spPr>
          <a:xfrm>
            <a:off x="2743200" y="4069080"/>
            <a:ext cx="2103120" cy="566928"/>
          </a:xfrm>
          <a:prstGeom prst="roundRect">
            <a:avLst>
              <a:gd name="adj" fmla="val 8065"/>
            </a:avLst>
          </a:prstGeom>
          <a:solidFill>
            <a:srgbClr val="EEF2F7"/>
          </a:solidFill>
          <a:ln w="9525">
            <a:solidFill>
              <a:srgbClr val="DCE3EC"/>
            </a:solidFill>
            <a:prstDash val="solid"/>
          </a:ln>
        </p:spPr>
        <p:txBody>
          <a:bodyPr/>
          <a:lstStyle/>
          <a:p>
            <a:endParaRPr lang="en-SG"/>
          </a:p>
        </p:txBody>
      </p:sp>
      <p:sp>
        <p:nvSpPr>
          <p:cNvPr id="18" name="Text 16"/>
          <p:cNvSpPr/>
          <p:nvPr/>
        </p:nvSpPr>
        <p:spPr>
          <a:xfrm>
            <a:off x="2834640" y="4206240"/>
            <a:ext cx="1920240" cy="292608"/>
          </a:xfrm>
          <a:prstGeom prst="rect">
            <a:avLst/>
          </a:prstGeom>
          <a:noFill/>
          <a:ln/>
        </p:spPr>
        <p:txBody>
          <a:bodyPr wrap="square" lIns="0" tIns="0" rIns="0" bIns="0" rtlCol="0" anchor="ctr"/>
          <a:lstStyle/>
          <a:p>
            <a:pPr marL="0" indent="0" algn="ctr">
              <a:buNone/>
            </a:pPr>
            <a:r>
              <a:rPr lang="en-US" sz="1150" b="1" dirty="0">
                <a:solidFill>
                  <a:srgbClr val="1F3864"/>
                </a:solidFill>
                <a:latin typeface="Calibri" pitchFamily="34" charset="0"/>
                <a:ea typeface="Calibri" pitchFamily="34" charset="-122"/>
                <a:cs typeface="Calibri" pitchFamily="34" charset="-120"/>
              </a:rPr>
              <a:t>Live Signal</a:t>
            </a:r>
            <a:endParaRPr lang="en-US" sz="1150" dirty="0"/>
          </a:p>
        </p:txBody>
      </p:sp>
      <p:sp>
        <p:nvSpPr>
          <p:cNvPr id="19" name="Shape 17"/>
          <p:cNvSpPr/>
          <p:nvPr/>
        </p:nvSpPr>
        <p:spPr>
          <a:xfrm>
            <a:off x="5029200" y="4069080"/>
            <a:ext cx="2103120" cy="566928"/>
          </a:xfrm>
          <a:prstGeom prst="roundRect">
            <a:avLst>
              <a:gd name="adj" fmla="val 8065"/>
            </a:avLst>
          </a:prstGeom>
          <a:solidFill>
            <a:srgbClr val="EEF2F7"/>
          </a:solidFill>
          <a:ln w="9525">
            <a:solidFill>
              <a:srgbClr val="DCE3EC"/>
            </a:solidFill>
            <a:prstDash val="solid"/>
          </a:ln>
        </p:spPr>
        <p:txBody>
          <a:bodyPr/>
          <a:lstStyle/>
          <a:p>
            <a:endParaRPr lang="en-SG"/>
          </a:p>
        </p:txBody>
      </p:sp>
      <p:sp>
        <p:nvSpPr>
          <p:cNvPr id="20" name="Text 18"/>
          <p:cNvSpPr/>
          <p:nvPr/>
        </p:nvSpPr>
        <p:spPr>
          <a:xfrm>
            <a:off x="5120640" y="4206240"/>
            <a:ext cx="1920240" cy="292608"/>
          </a:xfrm>
          <a:prstGeom prst="rect">
            <a:avLst/>
          </a:prstGeom>
          <a:noFill/>
          <a:ln/>
        </p:spPr>
        <p:txBody>
          <a:bodyPr wrap="square" lIns="0" tIns="0" rIns="0" bIns="0" rtlCol="0" anchor="ctr"/>
          <a:lstStyle/>
          <a:p>
            <a:pPr marL="0" indent="0" algn="ctr">
              <a:buNone/>
            </a:pPr>
            <a:r>
              <a:rPr lang="en-US" sz="1150" b="1" dirty="0">
                <a:solidFill>
                  <a:srgbClr val="1F3864"/>
                </a:solidFill>
                <a:latin typeface="Calibri" pitchFamily="34" charset="0"/>
                <a:ea typeface="Calibri" pitchFamily="34" charset="-122"/>
                <a:cs typeface="Calibri" pitchFamily="34" charset="-120"/>
              </a:rPr>
              <a:t>Interpretability</a:t>
            </a:r>
            <a:endParaRPr lang="en-US" sz="1150" dirty="0"/>
          </a:p>
        </p:txBody>
      </p:sp>
      <p:sp>
        <p:nvSpPr>
          <p:cNvPr id="21" name="Shape 19"/>
          <p:cNvSpPr/>
          <p:nvPr/>
        </p:nvSpPr>
        <p:spPr>
          <a:xfrm>
            <a:off x="7315200" y="4069080"/>
            <a:ext cx="2103120" cy="566928"/>
          </a:xfrm>
          <a:prstGeom prst="roundRect">
            <a:avLst>
              <a:gd name="adj" fmla="val 8065"/>
            </a:avLst>
          </a:prstGeom>
          <a:solidFill>
            <a:srgbClr val="EEF2F7"/>
          </a:solidFill>
          <a:ln w="9525">
            <a:solidFill>
              <a:srgbClr val="DCE3EC"/>
            </a:solidFill>
            <a:prstDash val="solid"/>
          </a:ln>
        </p:spPr>
        <p:txBody>
          <a:bodyPr/>
          <a:lstStyle/>
          <a:p>
            <a:endParaRPr lang="en-SG"/>
          </a:p>
        </p:txBody>
      </p:sp>
      <p:sp>
        <p:nvSpPr>
          <p:cNvPr id="22" name="Text 20"/>
          <p:cNvSpPr/>
          <p:nvPr/>
        </p:nvSpPr>
        <p:spPr>
          <a:xfrm>
            <a:off x="7406640" y="4206240"/>
            <a:ext cx="1920240" cy="292608"/>
          </a:xfrm>
          <a:prstGeom prst="rect">
            <a:avLst/>
          </a:prstGeom>
          <a:noFill/>
          <a:ln/>
        </p:spPr>
        <p:txBody>
          <a:bodyPr wrap="square" lIns="0" tIns="0" rIns="0" bIns="0" rtlCol="0" anchor="ctr"/>
          <a:lstStyle/>
          <a:p>
            <a:pPr marL="0" indent="0" algn="ctr">
              <a:buNone/>
            </a:pPr>
            <a:r>
              <a:rPr lang="en-US" sz="1150" b="1" dirty="0">
                <a:solidFill>
                  <a:srgbClr val="1F3864"/>
                </a:solidFill>
                <a:latin typeface="Calibri" pitchFamily="34" charset="0"/>
                <a:ea typeface="Calibri" pitchFamily="34" charset="-122"/>
                <a:cs typeface="Calibri" pitchFamily="34" charset="-120"/>
              </a:rPr>
              <a:t>Model Analysis</a:t>
            </a:r>
            <a:endParaRPr lang="en-US" sz="1150" dirty="0"/>
          </a:p>
        </p:txBody>
      </p:sp>
      <p:sp>
        <p:nvSpPr>
          <p:cNvPr id="23" name="Shape 21"/>
          <p:cNvSpPr/>
          <p:nvPr/>
        </p:nvSpPr>
        <p:spPr>
          <a:xfrm>
            <a:off x="9601200" y="4069080"/>
            <a:ext cx="2103120" cy="566928"/>
          </a:xfrm>
          <a:prstGeom prst="roundRect">
            <a:avLst>
              <a:gd name="adj" fmla="val 8065"/>
            </a:avLst>
          </a:prstGeom>
          <a:solidFill>
            <a:srgbClr val="EEF2F7"/>
          </a:solidFill>
          <a:ln w="9525">
            <a:solidFill>
              <a:srgbClr val="DCE3EC"/>
            </a:solidFill>
            <a:prstDash val="solid"/>
          </a:ln>
        </p:spPr>
        <p:txBody>
          <a:bodyPr/>
          <a:lstStyle/>
          <a:p>
            <a:endParaRPr lang="en-SG"/>
          </a:p>
        </p:txBody>
      </p:sp>
      <p:sp>
        <p:nvSpPr>
          <p:cNvPr id="24" name="Text 22"/>
          <p:cNvSpPr/>
          <p:nvPr/>
        </p:nvSpPr>
        <p:spPr>
          <a:xfrm>
            <a:off x="9692640" y="4206240"/>
            <a:ext cx="1920240" cy="292608"/>
          </a:xfrm>
          <a:prstGeom prst="rect">
            <a:avLst/>
          </a:prstGeom>
          <a:noFill/>
          <a:ln/>
        </p:spPr>
        <p:txBody>
          <a:bodyPr wrap="square" lIns="0" tIns="0" rIns="0" bIns="0" rtlCol="0" anchor="ctr"/>
          <a:lstStyle/>
          <a:p>
            <a:pPr marL="0" indent="0" algn="ctr">
              <a:buNone/>
            </a:pPr>
            <a:r>
              <a:rPr lang="en-US" sz="1150" b="1" dirty="0">
                <a:solidFill>
                  <a:srgbClr val="1F3864"/>
                </a:solidFill>
                <a:latin typeface="Calibri" pitchFamily="34" charset="0"/>
                <a:ea typeface="Calibri" pitchFamily="34" charset="-122"/>
                <a:cs typeface="Calibri" pitchFamily="34" charset="-120"/>
              </a:rPr>
              <a:t>Results Summary</a:t>
            </a:r>
            <a:endParaRPr lang="en-US" sz="1150" dirty="0"/>
          </a:p>
        </p:txBody>
      </p:sp>
      <p:sp>
        <p:nvSpPr>
          <p:cNvPr id="25" name="Shape 23"/>
          <p:cNvSpPr/>
          <p:nvPr/>
        </p:nvSpPr>
        <p:spPr>
          <a:xfrm>
            <a:off x="457200" y="4937760"/>
            <a:ext cx="11247120" cy="1005840"/>
          </a:xfrm>
          <a:prstGeom prst="rect">
            <a:avLst/>
          </a:prstGeom>
          <a:solidFill>
            <a:srgbClr val="EEF2F7"/>
          </a:solidFill>
          <a:ln w="9525">
            <a:solidFill>
              <a:srgbClr val="DCE3EC"/>
            </a:solidFill>
            <a:prstDash val="solid"/>
          </a:ln>
        </p:spPr>
        <p:txBody>
          <a:bodyPr/>
          <a:lstStyle/>
          <a:p>
            <a:endParaRPr lang="en-SG"/>
          </a:p>
        </p:txBody>
      </p:sp>
      <p:sp>
        <p:nvSpPr>
          <p:cNvPr id="26" name="Text 24"/>
          <p:cNvSpPr/>
          <p:nvPr/>
        </p:nvSpPr>
        <p:spPr>
          <a:xfrm>
            <a:off x="713232" y="5074920"/>
            <a:ext cx="10735056" cy="73152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MetaTrader5 execution was descoped in favour of the dashboard. It meets the same decision-support objective without the operational and safety risks of automated execution on a live financial platform.</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Limitations</a:t>
            </a:r>
            <a:endParaRPr lang="en-US" sz="2600" dirty="0"/>
          </a:p>
        </p:txBody>
      </p:sp>
      <p:sp>
        <p:nvSpPr>
          <p:cNvPr id="3" name="Text 1"/>
          <p:cNvSpPr/>
          <p:nvPr/>
        </p:nvSpPr>
        <p:spPr>
          <a:xfrm>
            <a:off x="457200" y="749808"/>
            <a:ext cx="10607040" cy="274320"/>
          </a:xfrm>
          <a:prstGeom prst="rect">
            <a:avLst/>
          </a:prstGeom>
          <a:noFill/>
          <a:ln/>
        </p:spPr>
        <p:txBody>
          <a:bodyPr wrap="square" lIns="0" tIns="0" rIns="0" bIns="0" rtlCol="0" anchor="ctr"/>
          <a:lstStyle/>
          <a:p>
            <a:pPr marL="0" indent="0">
              <a:buNone/>
            </a:pPr>
            <a:r>
              <a:rPr lang="en-US" sz="1300" dirty="0">
                <a:solidFill>
                  <a:srgbClr val="5A5A5A"/>
                </a:solidFill>
                <a:latin typeface="Calibri" pitchFamily="34" charset="0"/>
                <a:ea typeface="Calibri" pitchFamily="34" charset="-122"/>
                <a:cs typeface="Calibri" pitchFamily="34" charset="-120"/>
              </a:rPr>
              <a:t>What the reported result cannot claim</a:t>
            </a:r>
            <a:endParaRPr lang="en-US" sz="1300" dirty="0"/>
          </a:p>
        </p:txBody>
      </p:sp>
      <p:sp>
        <p:nvSpPr>
          <p:cNvPr id="4" name="Text 2"/>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18</a:t>
            </a:r>
            <a:endParaRPr lang="en-US" sz="1000" dirty="0"/>
          </a:p>
        </p:txBody>
      </p:sp>
      <p:sp>
        <p:nvSpPr>
          <p:cNvPr id="5" name="Shape 3"/>
          <p:cNvSpPr/>
          <p:nvPr/>
        </p:nvSpPr>
        <p:spPr>
          <a:xfrm>
            <a:off x="457200" y="1234440"/>
            <a:ext cx="11247120" cy="822960"/>
          </a:xfrm>
          <a:prstGeom prst="rect">
            <a:avLst/>
          </a:prstGeom>
          <a:solidFill>
            <a:srgbClr val="F2F2F2"/>
          </a:solidFill>
          <a:ln w="9525">
            <a:solidFill>
              <a:srgbClr val="B4B4B4"/>
            </a:solidFill>
            <a:prstDash val="solid"/>
          </a:ln>
        </p:spPr>
        <p:txBody>
          <a:bodyPr/>
          <a:lstStyle/>
          <a:p>
            <a:endParaRPr lang="en-SG"/>
          </a:p>
        </p:txBody>
      </p:sp>
      <p:sp>
        <p:nvSpPr>
          <p:cNvPr id="6" name="Text 4"/>
          <p:cNvSpPr/>
          <p:nvPr/>
        </p:nvSpPr>
        <p:spPr>
          <a:xfrm>
            <a:off x="640080" y="1353312"/>
            <a:ext cx="2651760" cy="274320"/>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Horizon mismatch</a:t>
            </a:r>
            <a:endParaRPr lang="en-US" sz="1250" dirty="0"/>
          </a:p>
        </p:txBody>
      </p:sp>
      <p:sp>
        <p:nvSpPr>
          <p:cNvPr id="7" name="Text 5"/>
          <p:cNvSpPr/>
          <p:nvPr/>
        </p:nvSpPr>
        <p:spPr>
          <a:xfrm>
            <a:off x="3383280" y="1325880"/>
            <a:ext cx="8138160" cy="658368"/>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Announcement effects are largely intraday. The surprise is absorbed within minutes while my target is the next day’s close, so most of the reaction is discarded by aggregation. The horizon study measures this rather than assuming it.</a:t>
            </a:r>
            <a:endParaRPr lang="en-US" sz="1100" dirty="0"/>
          </a:p>
        </p:txBody>
      </p:sp>
      <p:sp>
        <p:nvSpPr>
          <p:cNvPr id="8" name="Shape 6"/>
          <p:cNvSpPr/>
          <p:nvPr/>
        </p:nvSpPr>
        <p:spPr>
          <a:xfrm>
            <a:off x="457200" y="2176272"/>
            <a:ext cx="11247120" cy="822960"/>
          </a:xfrm>
          <a:prstGeom prst="rect">
            <a:avLst/>
          </a:prstGeom>
          <a:solidFill>
            <a:srgbClr val="FFFFFF"/>
          </a:solidFill>
          <a:ln w="9525">
            <a:solidFill>
              <a:srgbClr val="B4B4B4"/>
            </a:solidFill>
            <a:prstDash val="solid"/>
          </a:ln>
        </p:spPr>
        <p:txBody>
          <a:bodyPr/>
          <a:lstStyle/>
          <a:p>
            <a:endParaRPr lang="en-SG"/>
          </a:p>
        </p:txBody>
      </p:sp>
      <p:sp>
        <p:nvSpPr>
          <p:cNvPr id="9" name="Text 7"/>
          <p:cNvSpPr/>
          <p:nvPr/>
        </p:nvSpPr>
        <p:spPr>
          <a:xfrm>
            <a:off x="640080" y="2295144"/>
            <a:ext cx="2651760" cy="274320"/>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Surprise measurement</a:t>
            </a:r>
            <a:endParaRPr lang="en-US" sz="1250" dirty="0"/>
          </a:p>
        </p:txBody>
      </p:sp>
      <p:sp>
        <p:nvSpPr>
          <p:cNvPr id="10" name="Text 8"/>
          <p:cNvSpPr/>
          <p:nvPr/>
        </p:nvSpPr>
        <p:spPr>
          <a:xfrm>
            <a:off x="3383280" y="2267712"/>
            <a:ext cx="8138160" cy="658368"/>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Actual minus consensus is a weak proxy for policy surprise. The FOMC series is predominantly zero, and the literature uses fed funds futures for this purpose.</a:t>
            </a:r>
            <a:endParaRPr lang="en-US" sz="1100" dirty="0"/>
          </a:p>
        </p:txBody>
      </p:sp>
      <p:sp>
        <p:nvSpPr>
          <p:cNvPr id="11" name="Shape 9"/>
          <p:cNvSpPr/>
          <p:nvPr/>
        </p:nvSpPr>
        <p:spPr>
          <a:xfrm>
            <a:off x="457200" y="3118104"/>
            <a:ext cx="11247120" cy="822960"/>
          </a:xfrm>
          <a:prstGeom prst="rect">
            <a:avLst/>
          </a:prstGeom>
          <a:solidFill>
            <a:srgbClr val="F2F2F2"/>
          </a:solidFill>
          <a:ln w="9525">
            <a:solidFill>
              <a:srgbClr val="B4B4B4"/>
            </a:solidFill>
            <a:prstDash val="solid"/>
          </a:ln>
        </p:spPr>
        <p:txBody>
          <a:bodyPr/>
          <a:lstStyle/>
          <a:p>
            <a:endParaRPr lang="en-SG"/>
          </a:p>
        </p:txBody>
      </p:sp>
      <p:sp>
        <p:nvSpPr>
          <p:cNvPr id="12" name="Text 10"/>
          <p:cNvSpPr/>
          <p:nvPr/>
        </p:nvSpPr>
        <p:spPr>
          <a:xfrm>
            <a:off x="640080" y="3236976"/>
            <a:ext cx="2651760" cy="274320"/>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Fold independence</a:t>
            </a:r>
            <a:endParaRPr lang="en-US" sz="1250" dirty="0"/>
          </a:p>
        </p:txBody>
      </p:sp>
      <p:sp>
        <p:nvSpPr>
          <p:cNvPr id="13" name="Text 11"/>
          <p:cNvSpPr/>
          <p:nvPr/>
        </p:nvSpPr>
        <p:spPr>
          <a:xfrm>
            <a:off x="3383280" y="3209544"/>
            <a:ext cx="8138160" cy="658368"/>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The fold-level test assumes independent folds. Test periods do not overlap, but consecutive ten-year training windows share about 97.6% of their rows. A block permutation test would be more defensible, so the test is labelled exploratory.</a:t>
            </a:r>
            <a:endParaRPr lang="en-US" sz="1100" dirty="0"/>
          </a:p>
        </p:txBody>
      </p:sp>
      <p:sp>
        <p:nvSpPr>
          <p:cNvPr id="14" name="Shape 12"/>
          <p:cNvSpPr/>
          <p:nvPr/>
        </p:nvSpPr>
        <p:spPr>
          <a:xfrm>
            <a:off x="457200" y="4059936"/>
            <a:ext cx="11247120" cy="822960"/>
          </a:xfrm>
          <a:prstGeom prst="rect">
            <a:avLst/>
          </a:prstGeom>
          <a:solidFill>
            <a:srgbClr val="FFFFFF"/>
          </a:solidFill>
          <a:ln w="9525">
            <a:solidFill>
              <a:srgbClr val="B4B4B4"/>
            </a:solidFill>
            <a:prstDash val="solid"/>
          </a:ln>
        </p:spPr>
        <p:txBody>
          <a:bodyPr/>
          <a:lstStyle/>
          <a:p>
            <a:endParaRPr lang="en-SG"/>
          </a:p>
        </p:txBody>
      </p:sp>
      <p:sp>
        <p:nvSpPr>
          <p:cNvPr id="15" name="Text 13"/>
          <p:cNvSpPr/>
          <p:nvPr/>
        </p:nvSpPr>
        <p:spPr>
          <a:xfrm>
            <a:off x="640080" y="4178808"/>
            <a:ext cx="2651760" cy="274320"/>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Cost sensitivity</a:t>
            </a:r>
            <a:endParaRPr lang="en-US" sz="1250" dirty="0"/>
          </a:p>
        </p:txBody>
      </p:sp>
      <p:sp>
        <p:nvSpPr>
          <p:cNvPr id="16" name="Text 14"/>
          <p:cNvSpPr/>
          <p:nvPr/>
        </p:nvSpPr>
        <p:spPr>
          <a:xfrm>
            <a:off x="3383280" y="4151376"/>
            <a:ext cx="8138160" cy="658368"/>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The overlay result holds at one basis point and is negative from two upward. Turnover is the binding constraint.</a:t>
            </a:r>
            <a:endParaRPr lang="en-US" sz="1100" dirty="0"/>
          </a:p>
        </p:txBody>
      </p:sp>
      <p:sp>
        <p:nvSpPr>
          <p:cNvPr id="17" name="Shape 15"/>
          <p:cNvSpPr/>
          <p:nvPr/>
        </p:nvSpPr>
        <p:spPr>
          <a:xfrm>
            <a:off x="457200" y="5001768"/>
            <a:ext cx="11247120" cy="822960"/>
          </a:xfrm>
          <a:prstGeom prst="rect">
            <a:avLst/>
          </a:prstGeom>
          <a:solidFill>
            <a:srgbClr val="F2F2F2"/>
          </a:solidFill>
          <a:ln w="9525">
            <a:solidFill>
              <a:srgbClr val="B4B4B4"/>
            </a:solidFill>
            <a:prstDash val="solid"/>
          </a:ln>
        </p:spPr>
        <p:txBody>
          <a:bodyPr/>
          <a:lstStyle/>
          <a:p>
            <a:endParaRPr lang="en-SG"/>
          </a:p>
        </p:txBody>
      </p:sp>
      <p:sp>
        <p:nvSpPr>
          <p:cNvPr id="18" name="Text 16"/>
          <p:cNvSpPr/>
          <p:nvPr/>
        </p:nvSpPr>
        <p:spPr>
          <a:xfrm>
            <a:off x="640080" y="5120640"/>
            <a:ext cx="2651760" cy="274320"/>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Single price path</a:t>
            </a:r>
            <a:endParaRPr lang="en-US" sz="1250" dirty="0"/>
          </a:p>
        </p:txBody>
      </p:sp>
      <p:sp>
        <p:nvSpPr>
          <p:cNvPr id="19" name="Text 17"/>
          <p:cNvSpPr/>
          <p:nvPr/>
        </p:nvSpPr>
        <p:spPr>
          <a:xfrm>
            <a:off x="3383280" y="5093208"/>
            <a:ext cx="8138160" cy="658368"/>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Drawdown and return figures are one observed outcome with no confidence interval. Suggestive, not demonstrated.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10607040" cy="457200"/>
          </a:xfrm>
          <a:prstGeom prst="rect">
            <a:avLst/>
          </a:prstGeom>
          <a:noFill/>
          <a:ln/>
        </p:spPr>
        <p:txBody>
          <a:bodyPr wrap="square" lIns="0" tIns="0" rIns="0" bIns="0"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3" name="Text 1"/>
          <p:cNvSpPr/>
          <p:nvPr/>
        </p:nvSpPr>
        <p:spPr>
          <a:xfrm>
            <a:off x="11430000" y="6355080"/>
            <a:ext cx="365760" cy="22860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19</a:t>
            </a:r>
            <a:endParaRPr lang="en-US" sz="1000" dirty="0"/>
          </a:p>
        </p:txBody>
      </p:sp>
      <p:sp>
        <p:nvSpPr>
          <p:cNvPr id="4" name="Shape 2"/>
          <p:cNvSpPr/>
          <p:nvPr/>
        </p:nvSpPr>
        <p:spPr>
          <a:xfrm>
            <a:off x="457200" y="1188720"/>
            <a:ext cx="3502152" cy="3246120"/>
          </a:xfrm>
          <a:prstGeom prst="rect">
            <a:avLst/>
          </a:prstGeom>
          <a:solidFill>
            <a:srgbClr val="F2F2F2"/>
          </a:solidFill>
          <a:ln w="9525">
            <a:solidFill>
              <a:srgbClr val="B4B4B4"/>
            </a:solidFill>
            <a:prstDash val="solid"/>
          </a:ln>
        </p:spPr>
        <p:txBody>
          <a:bodyPr/>
          <a:lstStyle/>
          <a:p>
            <a:endParaRPr lang="en-SG"/>
          </a:p>
        </p:txBody>
      </p:sp>
      <p:sp>
        <p:nvSpPr>
          <p:cNvPr id="5" name="Text 3"/>
          <p:cNvSpPr/>
          <p:nvPr/>
        </p:nvSpPr>
        <p:spPr>
          <a:xfrm>
            <a:off x="685800" y="1371600"/>
            <a:ext cx="3044952" cy="228600"/>
          </a:xfrm>
          <a:prstGeom prst="rect">
            <a:avLst/>
          </a:prstGeom>
          <a:noFill/>
          <a:ln/>
        </p:spPr>
        <p:txBody>
          <a:bodyPr wrap="square" lIns="0" tIns="0" rIns="0" bIns="0" rtlCol="0" anchor="ctr"/>
          <a:lstStyle/>
          <a:p>
            <a:pPr marL="0" indent="0">
              <a:buNone/>
            </a:pPr>
            <a:r>
              <a:rPr lang="en-US" sz="1050" b="1" kern="0" spc="150" dirty="0">
                <a:solidFill>
                  <a:srgbClr val="2E6B4F"/>
                </a:solidFill>
                <a:latin typeface="Calibri" pitchFamily="34" charset="0"/>
                <a:ea typeface="Calibri" pitchFamily="34" charset="-122"/>
                <a:cs typeface="Calibri" pitchFamily="34" charset="-120"/>
              </a:rPr>
              <a:t>MEASURED</a:t>
            </a:r>
            <a:endParaRPr lang="en-US" sz="1050" dirty="0"/>
          </a:p>
        </p:txBody>
      </p:sp>
      <p:sp>
        <p:nvSpPr>
          <p:cNvPr id="6" name="Text 4"/>
          <p:cNvSpPr/>
          <p:nvPr/>
        </p:nvSpPr>
        <p:spPr>
          <a:xfrm>
            <a:off x="685800" y="1664208"/>
            <a:ext cx="3044952" cy="548640"/>
          </a:xfrm>
          <a:prstGeom prst="rect">
            <a:avLst/>
          </a:prstGeom>
          <a:noFill/>
          <a:ln/>
        </p:spPr>
        <p:txBody>
          <a:bodyPr wrap="square" lIns="0" tIns="0" rIns="0" bIns="0"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A small, statically detectable edge</a:t>
            </a:r>
            <a:endParaRPr lang="en-US" sz="1600" dirty="0"/>
          </a:p>
        </p:txBody>
      </p:sp>
      <p:sp>
        <p:nvSpPr>
          <p:cNvPr id="7" name="Text 5"/>
          <p:cNvSpPr/>
          <p:nvPr/>
        </p:nvSpPr>
        <p:spPr>
          <a:xfrm>
            <a:off x="685800" y="2286000"/>
            <a:ext cx="3044952" cy="2011680"/>
          </a:xfrm>
          <a:prstGeom prst="rect">
            <a:avLst/>
          </a:prstGeom>
          <a:noFill/>
          <a:ln/>
        </p:spPr>
        <p:txBody>
          <a:bodyPr wrap="square" lIns="0" tIns="0" rIns="0" bIns="0" rtlCol="0" anchor="t"/>
          <a:lstStyle/>
          <a:p>
            <a:pPr marL="0" indent="0">
              <a:buNone/>
            </a:pPr>
            <a:r>
              <a:rPr lang="en-US" sz="1150" dirty="0">
                <a:solidFill>
                  <a:srgbClr val="1A1A1A"/>
                </a:solidFill>
                <a:latin typeface="Calibri" pitchFamily="34" charset="0"/>
                <a:ea typeface="Calibri" pitchFamily="34" charset="-122"/>
                <a:cs typeface="Calibri" pitchFamily="34" charset="-120"/>
              </a:rPr>
              <a:t>Mean fold AUC 0.5389 across 36 purged out-of-sample folds, p = 0.000316, surviving Bonferroni correction. With selection moved inside the walk-forward, 0.5324 at p = 0.000672 with no adjustment needed.</a:t>
            </a:r>
            <a:endParaRPr lang="en-US" sz="1150" dirty="0"/>
          </a:p>
        </p:txBody>
      </p:sp>
      <p:sp>
        <p:nvSpPr>
          <p:cNvPr id="8" name="Shape 6"/>
          <p:cNvSpPr/>
          <p:nvPr/>
        </p:nvSpPr>
        <p:spPr>
          <a:xfrm>
            <a:off x="4343400" y="1188720"/>
            <a:ext cx="3502152" cy="3246120"/>
          </a:xfrm>
          <a:prstGeom prst="rect">
            <a:avLst/>
          </a:prstGeom>
          <a:solidFill>
            <a:srgbClr val="F2F2F2"/>
          </a:solidFill>
          <a:ln w="9525">
            <a:solidFill>
              <a:srgbClr val="B4B4B4"/>
            </a:solidFill>
            <a:prstDash val="solid"/>
          </a:ln>
        </p:spPr>
        <p:txBody>
          <a:bodyPr/>
          <a:lstStyle/>
          <a:p>
            <a:endParaRPr lang="en-SG"/>
          </a:p>
        </p:txBody>
      </p:sp>
      <p:sp>
        <p:nvSpPr>
          <p:cNvPr id="9" name="Text 7"/>
          <p:cNvSpPr/>
          <p:nvPr/>
        </p:nvSpPr>
        <p:spPr>
          <a:xfrm>
            <a:off x="4572000" y="1371600"/>
            <a:ext cx="3044952" cy="228600"/>
          </a:xfrm>
          <a:prstGeom prst="rect">
            <a:avLst/>
          </a:prstGeom>
          <a:noFill/>
          <a:ln/>
        </p:spPr>
        <p:txBody>
          <a:bodyPr wrap="square" lIns="0" tIns="0" rIns="0" bIns="0" rtlCol="0" anchor="ctr"/>
          <a:lstStyle/>
          <a:p>
            <a:pPr marL="0" indent="0">
              <a:buNone/>
            </a:pPr>
            <a:r>
              <a:rPr lang="en-US" sz="1050" b="1" kern="0" spc="150" dirty="0">
                <a:solidFill>
                  <a:srgbClr val="2E5C8A"/>
                </a:solidFill>
                <a:latin typeface="Calibri" pitchFamily="34" charset="0"/>
                <a:ea typeface="Calibri" pitchFamily="34" charset="-122"/>
                <a:cs typeface="Calibri" pitchFamily="34" charset="-120"/>
              </a:rPr>
              <a:t>EXPLAINED</a:t>
            </a:r>
            <a:endParaRPr lang="en-US" sz="1050" dirty="0"/>
          </a:p>
        </p:txBody>
      </p:sp>
      <p:sp>
        <p:nvSpPr>
          <p:cNvPr id="10" name="Text 8"/>
          <p:cNvSpPr/>
          <p:nvPr/>
        </p:nvSpPr>
        <p:spPr>
          <a:xfrm>
            <a:off x="4572000" y="1664208"/>
            <a:ext cx="3044952" cy="548640"/>
          </a:xfrm>
          <a:prstGeom prst="rect">
            <a:avLst/>
          </a:prstGeom>
          <a:noFill/>
          <a:ln/>
        </p:spPr>
        <p:txBody>
          <a:bodyPr wrap="square" lIns="0" tIns="0" rIns="0" bIns="0"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It decays with horizon</a:t>
            </a:r>
            <a:endParaRPr lang="en-US" sz="1600" dirty="0"/>
          </a:p>
        </p:txBody>
      </p:sp>
      <p:sp>
        <p:nvSpPr>
          <p:cNvPr id="11" name="Text 9"/>
          <p:cNvSpPr/>
          <p:nvPr/>
        </p:nvSpPr>
        <p:spPr>
          <a:xfrm>
            <a:off x="4572000" y="2286000"/>
            <a:ext cx="3044952" cy="2011680"/>
          </a:xfrm>
          <a:prstGeom prst="rect">
            <a:avLst/>
          </a:prstGeom>
          <a:noFill/>
          <a:ln/>
        </p:spPr>
        <p:txBody>
          <a:bodyPr wrap="square" lIns="0" tIns="0" rIns="0" bIns="0" rtlCol="0" anchor="t"/>
          <a:lstStyle/>
          <a:p>
            <a:pPr marL="0" indent="0">
              <a:buNone/>
            </a:pPr>
            <a:r>
              <a:rPr lang="en-US" sz="1150" dirty="0">
                <a:solidFill>
                  <a:srgbClr val="1A1A1A"/>
                </a:solidFill>
                <a:latin typeface="Calibri" pitchFamily="34" charset="0"/>
                <a:ea typeface="Calibri" pitchFamily="34" charset="-122"/>
                <a:cs typeface="Calibri" pitchFamily="34" charset="-120"/>
              </a:rPr>
              <a:t>Lower at five days than at one in all three model families. Consistent with rapid absorption of announcement information, and it identifies daily sampling as a binding constraint rather than an incidental choice.</a:t>
            </a:r>
            <a:endParaRPr lang="en-US" sz="1150" dirty="0"/>
          </a:p>
        </p:txBody>
      </p:sp>
      <p:sp>
        <p:nvSpPr>
          <p:cNvPr id="12" name="Shape 10"/>
          <p:cNvSpPr/>
          <p:nvPr/>
        </p:nvSpPr>
        <p:spPr>
          <a:xfrm>
            <a:off x="8229600" y="1188720"/>
            <a:ext cx="3502152" cy="3246120"/>
          </a:xfrm>
          <a:prstGeom prst="rect">
            <a:avLst/>
          </a:prstGeom>
          <a:solidFill>
            <a:srgbClr val="F2F2F2"/>
          </a:solidFill>
          <a:ln w="9525">
            <a:solidFill>
              <a:srgbClr val="B4B4B4"/>
            </a:solidFill>
            <a:prstDash val="solid"/>
          </a:ln>
        </p:spPr>
        <p:txBody>
          <a:bodyPr/>
          <a:lstStyle/>
          <a:p>
            <a:endParaRPr lang="en-SG"/>
          </a:p>
        </p:txBody>
      </p:sp>
      <p:sp>
        <p:nvSpPr>
          <p:cNvPr id="13" name="Text 11"/>
          <p:cNvSpPr/>
          <p:nvPr/>
        </p:nvSpPr>
        <p:spPr>
          <a:xfrm>
            <a:off x="8458200" y="1371600"/>
            <a:ext cx="3044952" cy="228600"/>
          </a:xfrm>
          <a:prstGeom prst="rect">
            <a:avLst/>
          </a:prstGeom>
          <a:noFill/>
          <a:ln/>
        </p:spPr>
        <p:txBody>
          <a:bodyPr wrap="square" lIns="0" tIns="0" rIns="0" bIns="0" rtlCol="0" anchor="ctr"/>
          <a:lstStyle/>
          <a:p>
            <a:pPr marL="0" indent="0">
              <a:buNone/>
            </a:pPr>
            <a:r>
              <a:rPr lang="en-US" sz="1050" b="1" kern="0" spc="150" dirty="0">
                <a:solidFill>
                  <a:srgbClr val="B02418"/>
                </a:solidFill>
                <a:latin typeface="Calibri" pitchFamily="34" charset="0"/>
                <a:ea typeface="Calibri" pitchFamily="34" charset="-122"/>
                <a:cs typeface="Calibri" pitchFamily="34" charset="-120"/>
              </a:rPr>
              <a:t>QUALIFIED</a:t>
            </a:r>
            <a:endParaRPr lang="en-US" sz="1050" dirty="0"/>
          </a:p>
        </p:txBody>
      </p:sp>
      <p:sp>
        <p:nvSpPr>
          <p:cNvPr id="14" name="Text 12"/>
          <p:cNvSpPr/>
          <p:nvPr/>
        </p:nvSpPr>
        <p:spPr>
          <a:xfrm>
            <a:off x="8458200" y="1664208"/>
            <a:ext cx="3044952" cy="548640"/>
          </a:xfrm>
          <a:prstGeom prst="rect">
            <a:avLst/>
          </a:prstGeom>
          <a:noFill/>
          <a:ln/>
        </p:spPr>
        <p:txBody>
          <a:bodyPr wrap="square" lIns="0" tIns="0" rIns="0" bIns="0"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It is a risk filter</a:t>
            </a:r>
            <a:endParaRPr lang="en-US" sz="1600" dirty="0"/>
          </a:p>
        </p:txBody>
      </p:sp>
      <p:sp>
        <p:nvSpPr>
          <p:cNvPr id="15" name="Text 13"/>
          <p:cNvSpPr/>
          <p:nvPr/>
        </p:nvSpPr>
        <p:spPr>
          <a:xfrm>
            <a:off x="8458200" y="2286000"/>
            <a:ext cx="3044952" cy="2011680"/>
          </a:xfrm>
          <a:prstGeom prst="rect">
            <a:avLst/>
          </a:prstGeom>
          <a:noFill/>
          <a:ln/>
        </p:spPr>
        <p:txBody>
          <a:bodyPr wrap="square" lIns="0" tIns="0" rIns="0" bIns="0" rtlCol="0" anchor="t"/>
          <a:lstStyle/>
          <a:p>
            <a:pPr marL="0" indent="0">
              <a:buNone/>
            </a:pPr>
            <a:r>
              <a:rPr lang="en-US" sz="1150" dirty="0">
                <a:solidFill>
                  <a:srgbClr val="1A1A1A"/>
                </a:solidFill>
                <a:latin typeface="Calibri" pitchFamily="34" charset="0"/>
                <a:ea typeface="Calibri" pitchFamily="34" charset="-122"/>
                <a:cs typeface="Calibri" pitchFamily="34" charset="-120"/>
              </a:rPr>
              <a:t>Drawdown reduced from -23.29% to -18.81% at comparable return. The strongest return in the grid is concentrated in three folds of one trend, in two of which the model had no predictive skill.</a:t>
            </a:r>
            <a:endParaRPr lang="en-US" sz="1150" dirty="0"/>
          </a:p>
        </p:txBody>
      </p:sp>
      <p:sp>
        <p:nvSpPr>
          <p:cNvPr id="16" name="Shape 14"/>
          <p:cNvSpPr/>
          <p:nvPr/>
        </p:nvSpPr>
        <p:spPr>
          <a:xfrm>
            <a:off x="457200" y="4754880"/>
            <a:ext cx="11274552" cy="1051560"/>
          </a:xfrm>
          <a:prstGeom prst="rect">
            <a:avLst/>
          </a:prstGeom>
          <a:solidFill>
            <a:srgbClr val="1F3864"/>
          </a:solidFill>
          <a:ln/>
        </p:spPr>
        <p:txBody>
          <a:bodyPr/>
          <a:lstStyle/>
          <a:p>
            <a:endParaRPr lang="en-SG"/>
          </a:p>
        </p:txBody>
      </p:sp>
      <p:sp>
        <p:nvSpPr>
          <p:cNvPr id="17" name="Text 15"/>
          <p:cNvSpPr/>
          <p:nvPr/>
        </p:nvSpPr>
        <p:spPr>
          <a:xfrm>
            <a:off x="777240" y="5029200"/>
            <a:ext cx="10607040" cy="5486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 statistically detectable edge, best delivered as a risk-management filter rather than a return generator.</a:t>
            </a:r>
            <a:endParaRPr lang="en-US" sz="1700" dirty="0"/>
          </a:p>
        </p:txBody>
      </p:sp>
      <p:sp>
        <p:nvSpPr>
          <p:cNvPr id="18" name="Text 16"/>
          <p:cNvSpPr/>
          <p:nvPr/>
        </p:nvSpPr>
        <p:spPr>
          <a:xfrm>
            <a:off x="457200" y="5989320"/>
            <a:ext cx="11247120" cy="274320"/>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Further work:  intraday horizon with release timestamps  ·  futures-implied policy surprise  ·  block permutation test  ·  additional currency pairs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5464</Words>
  <Application>Microsoft Office PowerPoint</Application>
  <PresentationFormat>Widescreen</PresentationFormat>
  <Paragraphs>542</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Event-Driven Forex Trading Assistant using Machine Learning</dc:title>
  <dc:subject>PptxGenJS Presentation</dc:subject>
  <dc:creator>Muhammad Mursyid Bin Hassan</dc:creator>
  <cp:lastModifiedBy>Muhammad Mursyid Bin Hassan</cp:lastModifiedBy>
  <cp:revision>13</cp:revision>
  <dcterms:created xsi:type="dcterms:W3CDTF">2026-07-28T17:16:45Z</dcterms:created>
  <dcterms:modified xsi:type="dcterms:W3CDTF">2026-07-29T05:50:57Z</dcterms:modified>
</cp:coreProperties>
</file>